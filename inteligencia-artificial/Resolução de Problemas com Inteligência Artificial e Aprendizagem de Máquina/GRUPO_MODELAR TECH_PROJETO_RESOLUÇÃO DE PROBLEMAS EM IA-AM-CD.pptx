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lay"/>
      <p:regular r:id="rId17"/>
      <p:bold r:id="rId18"/>
    </p:embeddedFont>
    <p:embeddedFont>
      <p:font typeface="No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rcUW9o+9A2EbG/XvO7wmA7V20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8E4631-3747-4B72-87CA-3E57E576923E}">
  <a:tblStyle styleId="{368E4631-3747-4B72-87CA-3E57E576923E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FC167A0-7C17-428C-AC36-29983B10CF44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.fntdata"/><Relationship Id="rId11" Type="http://schemas.openxmlformats.org/officeDocument/2006/relationships/slide" Target="slides/slide6.xml"/><Relationship Id="rId22" Type="http://schemas.openxmlformats.org/officeDocument/2006/relationships/font" Target="fonts/NotoSans-boldItalic.fntdata"/><Relationship Id="rId10" Type="http://schemas.openxmlformats.org/officeDocument/2006/relationships/slide" Target="slides/slide5.xml"/><Relationship Id="rId21" Type="http://schemas.openxmlformats.org/officeDocument/2006/relationships/font" Target="fonts/Noto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-regular.fntdata"/><Relationship Id="rId6" Type="http://schemas.openxmlformats.org/officeDocument/2006/relationships/slide" Target="slides/slide1.xml"/><Relationship Id="rId18" Type="http://schemas.openxmlformats.org/officeDocument/2006/relationships/font" Target="fonts/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060"/>
            </a:gs>
            <a:gs pos="100000">
              <a:schemeClr val="lt1"/>
            </a:gs>
          </a:gsLst>
          <a:lin ang="27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Uninove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7879" y="5878070"/>
            <a:ext cx="1974121" cy="9949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0" y="235963"/>
            <a:ext cx="12192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UNIVERSIDADE NOVE DE JULHO – UNINOVE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265872" y="3090287"/>
            <a:ext cx="8852065" cy="3323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Curso: Pós-Graduação Data Science e Analytics e Inteligência Artificial e Aprendizagem de Máquina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Disciplina: Resolução de problemas em IA/AM/CD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Período: Segundo Semestre – 2025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Unidade: Campus MM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Orientadores: Dr. Edson Melo de Souza / Dr. Sidnei Alves de Araújo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0" y="1507318"/>
            <a:ext cx="12192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PROJETO DE RESOLUÇÃO DE PROBLEMAS EM IA/AM/CD</a:t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060"/>
            </a:gs>
            <a:gs pos="100000">
              <a:schemeClr val="lt1"/>
            </a:gs>
          </a:gsLst>
          <a:lin ang="2700000" scaled="0"/>
        </a:gra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Uninove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7879" y="5878070"/>
            <a:ext cx="1974121" cy="99492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243324" y="3588362"/>
            <a:ext cx="11948676" cy="2769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JOÃO PEDRO BOLOGNESE LIMA				RA: 625200597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RICARDO DE OLIVEIRA SANTOS				RA: 625200294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VITOR HUGO DA SILVA SANTOS				RA: 625102765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CLAUDIO HENRIQUE DO MONTE SILVA			RA: 625200786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THALLES FERNANDO DE SOUSA BENICIO			RA: 625202631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SIDNEI HENRIQUE DOS SANTOS JUNIOR			RA: 625201466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120372" y="993695"/>
            <a:ext cx="1158346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Otimização de Rotas de Entrega para E-commerce com Algoritmos de Busca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2746620" y="2536284"/>
            <a:ext cx="61009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Aplicação de Inteligência Artificial na Logística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0" y="189770"/>
            <a:ext cx="12192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GRUPO MODELAR TECH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060"/>
            </a:gs>
            <a:gs pos="100000">
              <a:schemeClr val="lt1"/>
            </a:gs>
          </a:gsLst>
          <a:lin ang="2700000" scaled="0"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Uninove"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7879" y="5878070"/>
            <a:ext cx="1974121" cy="99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398644" y="695148"/>
            <a:ext cx="2704523" cy="397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000"/>
              <a:buFont typeface="Times New Roman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 ao Problema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398644" y="1158612"/>
            <a:ext cx="6093500" cy="16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Contexto do E-commerce: </a:t>
            </a:r>
            <a:r>
              <a:rPr b="0" i="0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e-commerce experimentou um crescimento exponencial nas últimas décadas, transformando profundamente os modelos de negócio e a filosofia empresarial da sociedade contemporânea. Com a popularização da internet e dos dispositivos móveis, as compras online tornaram-se parte do cotidiano, criando novos desafios para a logística de distribuição. 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398644" y="3231010"/>
            <a:ext cx="6093500" cy="1992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Desafio da Última Milha: </a:t>
            </a:r>
            <a:r>
              <a:rPr b="0" i="0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"última milha" da entrega representa o segmento final e mais crítico da cadeia logística, correspondendo ao trajeto entre o centro de distribuição e o destino final do cliente. Este segmento é responsável por até 53% dos custos totais de transporte e representa o principal gargalo operacional das empresas de e-commerce.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05" name="Google Shape;10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5495" y="1158612"/>
            <a:ext cx="4927861" cy="266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/>
          <p:nvPr/>
        </p:nvSpPr>
        <p:spPr>
          <a:xfrm>
            <a:off x="6685614" y="3919564"/>
            <a:ext cx="5276538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</a:pPr>
            <a:r>
              <a:rPr b="1" i="1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1: Otimização de rotas na última milha de entrega do e-commerce</a:t>
            </a:r>
            <a:endParaRPr b="1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398644" y="5588331"/>
            <a:ext cx="5507481" cy="101720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1" i="0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Impacto Econômico: </a:t>
            </a:r>
            <a:r>
              <a:rPr b="0" i="0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otimização de rotas pode reduzir custos operacionais em até 20% e diminuir o tempo de entrega em aproximadamente 30%, aumentando significativamente a satisfação do cliente e a competitividade no mercado. 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08" name="Google Shape;10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6510" y="5720169"/>
            <a:ext cx="114300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060"/>
            </a:gs>
            <a:gs pos="100000">
              <a:schemeClr val="lt1"/>
            </a:gs>
          </a:gsLst>
          <a:lin ang="2700000" scaled="0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Uninove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7879" y="5878070"/>
            <a:ext cx="1974121" cy="99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398644" y="697079"/>
            <a:ext cx="3768622" cy="393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Descrição Detalhada do Problema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398643" y="1158612"/>
            <a:ext cx="11578497" cy="1029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Problema de Roteamento de Veículos (Vehicle Routing Problem - VRP) no contexto de e-commerce consiste em determinar rotas ótimas para uma frota de veículos que deve atender a um conjunto de clientes distribuídos geograficamente, minimizando custos operacionais (distância, tempo, combustível) enquanto satisfaz restrições específicas as do negócio.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6" name="Google Shape;1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2187676"/>
            <a:ext cx="5881140" cy="259927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6096000" y="4921316"/>
            <a:ext cx="5881139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</a:pPr>
            <a:r>
              <a:rPr b="1" i="1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2: Representação do Problema de Roteamento de Veículos (VRP)</a:t>
            </a:r>
            <a:endParaRPr b="1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8" name="Google Shape;118;p4"/>
          <p:cNvGraphicFramePr/>
          <p:nvPr/>
        </p:nvGraphicFramePr>
        <p:xfrm>
          <a:off x="214859" y="22396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{368E4631-3747-4B72-87CA-3E57E576923E}</a:tableStyleId>
              </a:tblPr>
              <a:tblGrid>
                <a:gridCol w="2875625"/>
                <a:gridCol w="2875625"/>
              </a:tblGrid>
              <a:tr h="54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lt1"/>
                          </a:solidFill>
                        </a:rPr>
                        <a:t>Componente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lt1"/>
                          </a:solidFill>
                        </a:rPr>
                        <a:t>Especificação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6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Entradas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Localização do centro de distribuição, endereços de entrega, distâncias entre pontos, capacidade dos veículos, janelas de tempo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Saídas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pt-BR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Sequência ótima de visitas para cada veículo, rotas completas do centro de distribuição até os clientes e retorno.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Restrições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pt-BR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Capacidade máxima dos veículos, horários de entrega, tempo de trabalho dos motoristas, acessibilidade das vias.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Objetivo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pt-BR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Minimizar a distância total percorrida ou o tempo total de entrega, reduzindo custos operacionais e aumentando a eficiência.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Complexidade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pt-BR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Problema NP-difícil, crescimento exponencial do espaço de busca com o número de destinos.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060"/>
            </a:gs>
            <a:gs pos="100000">
              <a:schemeClr val="lt1"/>
            </a:gs>
          </a:gsLst>
          <a:lin ang="2700000" scaled="0"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Uninove"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7879" y="5878070"/>
            <a:ext cx="1974121" cy="99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398644" y="697078"/>
            <a:ext cx="5252648" cy="393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Fundamentos Teóricos: Algoritmos de Busca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398643" y="1158612"/>
            <a:ext cx="11578497" cy="1029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algoritmos de busca no espaço de estados são técnicas fundamentais de Inteligência Artificial que permitem encontrar soluções para problemas modelados como grafos. No contexto de otimização de rotas, o problema é representado por vértices (locais) e arestas (conexões entre locais), e o objetivo é encontrar o caminho de menor custo entre origem e destino.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6" name="Google Shape;1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1743" y="2187676"/>
            <a:ext cx="5045713" cy="259418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6451743" y="5006800"/>
            <a:ext cx="5045713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3: Visualização do funcionamento do Algoritmo de Dijkstra</a:t>
            </a:r>
            <a:endParaRPr b="1" i="1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98643" y="2187676"/>
            <a:ext cx="5697357" cy="100793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pelo Menor Custo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f(s) = g(s)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Considera apenas o custo acumulado do caminho do estado inicial até o estado corrente. Garante solução ótima, mas pode ser lento em grafos grandes.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Ótima | ✓ Completa | ✗ Eficiência limitada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98643" y="3344102"/>
            <a:ext cx="5697357" cy="100793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Algoritmo de Dijkstra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f(s) = g(s) com podas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Otimiza a busca pelo menor custo através de podas inteligentes, eliminando caminhos subótimos durante a exploração. É o algoritmo clássico para o problema do caminho mínimo.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Ótima | ✓ Completa | ✓ Eficiente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98643" y="4500528"/>
            <a:ext cx="5697357" cy="100793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Gulosa (Greedy)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f(s) = h(s)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 apenas informação heurística (estimativa de distância até o objetivo). É rápida, mas não garante encontrar a solução ótima.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✗ Não ótima | ✓ Completa | ✓ Muito eficiente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398643" y="5656953"/>
            <a:ext cx="5697357" cy="100793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 A* (A-Estrela)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f(s) = g(s) + h(s)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 custo real acumulado com estimativa heurística. Oferece o melhor equilíbrio entre otimalidade e eficiência quando a heurística é admissível.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Ótima | ✓ Completa | ✓ Muito eficiente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060"/>
            </a:gs>
            <a:gs pos="100000">
              <a:schemeClr val="lt1"/>
            </a:gs>
          </a:gsLst>
          <a:lin ang="2700000" scaled="0"/>
        </a:gra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Uninove"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7879" y="5878070"/>
            <a:ext cx="1974121" cy="99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398643" y="697078"/>
            <a:ext cx="6601763" cy="393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Algoritmo de Dijkstra Aplicado à Otimização de Rotas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398643" y="1158612"/>
            <a:ext cx="11647475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Definição e Funcionamento: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algoritmo de Dijkstra, proposto por Edsger Dijkstra em 1956, é um algoritmo guloso clássico para resolver o problema do caminho mais curto de fonte única em grafos com pesos não negativos. É amplamente utilizado em sistemas de roteamento de redes e otimização logística.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98641" y="2053399"/>
            <a:ext cx="6436871" cy="89966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f(s) = g(s)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g(s) representa o custo acumulado do caminho do estado inicial até o estado corrente.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98640" y="3194571"/>
            <a:ext cx="6436872" cy="162268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Etapas do Algoritmo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Inicializar a distância do nó origem como 0 e todos os outros como infinito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 o nó não visitado com menor distância acumulada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Atualizar as distâncias dos nós vizinhos não visitados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Marcar o nó atual como visitado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Repetir até que todos os nós sejam visitados ou o destino seja alcançado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98641" y="5058764"/>
            <a:ext cx="6436872" cy="142875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Características Principais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Completude: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Sempre encontra uma solução se ela existir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Otimalidade: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Garante o caminho de menor custo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Complexidade: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O(|V|² + |E|) com lista de adjacências</a:t>
            </a:r>
            <a:endParaRPr/>
          </a:p>
        </p:txBody>
      </p:sp>
      <p:pic>
        <p:nvPicPr>
          <p:cNvPr descr="preencoded.png" id="142" name="Google Shape;1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0406" y="2014877"/>
            <a:ext cx="5045713" cy="259418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/>
          <p:nvPr/>
        </p:nvSpPr>
        <p:spPr>
          <a:xfrm>
            <a:off x="7000406" y="4834001"/>
            <a:ext cx="5045713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3: Visualização do funcionamento do Algoritmo de Dijkstra</a:t>
            </a:r>
            <a:endParaRPr b="1" i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060"/>
            </a:gs>
            <a:gs pos="100000">
              <a:schemeClr val="lt1"/>
            </a:gs>
          </a:gsLst>
          <a:lin ang="2700000" scaled="0"/>
        </a:gra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Uninove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7879" y="5878070"/>
            <a:ext cx="1974121" cy="99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398643" y="697078"/>
            <a:ext cx="6601763" cy="393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Modelagem do Problema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398643" y="1158612"/>
            <a:ext cx="11647475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Representação como Grafo: 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problema de otimização de rotas de entrega é modelado como um grafo ponderado, onde a estrutura atemática permite a aplicação de algoritmos de busca para encontrar soluções ótimas ou aproximadas.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935141" y="5483944"/>
            <a:ext cx="6206476" cy="21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4: Exemplo de modelagem de problema de entrega como grafo ponderado</a:t>
            </a:r>
            <a:endParaRPr b="1" i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52" name="Google Shape;15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5443" y="1443198"/>
            <a:ext cx="5574440" cy="404074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481088" y="2143198"/>
            <a:ext cx="5215174" cy="451243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Componentes do Grafo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Vértices (V)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Representam os locais de interesse: centro de distribuição (nó origem) e endereços de entrega (nós destino). Cada vértice possui coordenadas geográficas.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Arestas (E)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Representam as conexões viárias entre dois locais. Uma aresta conecta dois vértices e indica que existe um caminho físico entre eles.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Pesos (W)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aresta possui um peso que representa o custo de percorrê-la: distância (km), tempo de viagem (min), ou custo monetário (R$).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Encontrar o caminho de custo mínimo que conecta o centro de distribuição a todos os pontos de entrega, respeitando as restrições do problema.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060"/>
            </a:gs>
            <a:gs pos="100000">
              <a:schemeClr val="lt1"/>
            </a:gs>
          </a:gsLst>
          <a:lin ang="2700000" scaled="0"/>
        </a:gra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Uninove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7879" y="5878070"/>
            <a:ext cx="1974121" cy="99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/>
          <p:nvPr/>
        </p:nvSpPr>
        <p:spPr>
          <a:xfrm>
            <a:off x="398643" y="697078"/>
            <a:ext cx="6601763" cy="393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Aplicação Prática e Resultados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398643" y="1158612"/>
            <a:ext cx="5987167" cy="1072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Estudo de Caso: Distribuição Terminal de E-commerce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Lin, S. (2023). Path Optimization of e-Commerce Logistics Terminal Distribution Mode Based on Dijkstra Algorithm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398643" y="2240990"/>
            <a:ext cx="6093500" cy="16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 (2023) desenvolveu um modelo matemático de otimização de distribuição baseado no algoritmo de Dijkstra para resolver problemas práticos de distribuição terminal em e-commerce. O estudo analisou os obstáculos enfrentados pela indústria no desenvolvimento de áreas de distribuição terminal, combinando características locais e a situação atual de compras online.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62" name="Google Shape;16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1" y="329784"/>
            <a:ext cx="6096000" cy="51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7000406" y="5447183"/>
            <a:ext cx="5191594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5: Sistema de gerenciamento de entregas com rotas otimizadas por algoritmos de busca</a:t>
            </a:r>
            <a:endParaRPr b="1" i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98295" y="4019739"/>
            <a:ext cx="3732609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942"/>
              <a:buFont typeface="Noto Sans"/>
              <a:buNone/>
            </a:pPr>
            <a:r>
              <a:rPr b="1" lang="pt-BR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Resultados Obtidos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98295" y="4356969"/>
            <a:ext cx="288000" cy="288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6" name="Google Shape;16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9259" y="4428407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498295" y="4764163"/>
            <a:ext cx="288000" cy="288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8" name="Google Shape;16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215" y="4835601"/>
            <a:ext cx="7143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498295" y="5171356"/>
            <a:ext cx="288000" cy="288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0" name="Google Shape;17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784" y="525232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898346" y="5189082"/>
            <a:ext cx="22976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Eficiência de Tempo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30% mais rápido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869771" y="4341756"/>
            <a:ext cx="23262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Redução de Distância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~10 km por rota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69770" y="4769995"/>
            <a:ext cx="23262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Economia de Custos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Até 20% de redução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98295" y="5700502"/>
            <a:ext cx="62846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Melhor modo de distribuição: </a:t>
            </a:r>
            <a:r>
              <a:rPr lang="pt-BR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Armários logísticos (lockers) para entregas terminais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Otimização em tempo real: </a:t>
            </a:r>
            <a:r>
              <a:rPr lang="pt-BR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Adaptação dinâmica às condições de tráfego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Escalabilidade: </a:t>
            </a:r>
            <a:r>
              <a:rPr lang="pt-BR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Aplicável a diferentes tamanhos de frota e volumes de entrega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060"/>
            </a:gs>
            <a:gs pos="100000">
              <a:schemeClr val="lt1"/>
            </a:gs>
          </a:gsLst>
          <a:lin ang="2700000" scaled="0"/>
        </a:gra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Uninove" id="179" name="Google Shape;1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7879" y="5878070"/>
            <a:ext cx="1974121" cy="99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/>
          <p:nvPr/>
        </p:nvSpPr>
        <p:spPr>
          <a:xfrm>
            <a:off x="398643" y="697078"/>
            <a:ext cx="6601763" cy="393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Comparação de Algoritmos de Busca</a:t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398643" y="1158612"/>
            <a:ext cx="11647475" cy="10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escolha do algoritmo adequado para otimização de rotas depende das características específicas do problema, como tamanho do espaço de busca, disponibilidade de heurísticas e requisitos de otimalidade. A seguir, apresentamos uma análise comparativa dos principais algoritmos de busca aplicáveis ao problema de roteamento de veículos.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2" name="Google Shape;182;p9"/>
          <p:cNvGraphicFramePr/>
          <p:nvPr/>
        </p:nvGraphicFramePr>
        <p:xfrm>
          <a:off x="232013" y="2249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{FFC167A0-7C17-428C-AC36-29983B10CF44}</a:tableStyleId>
              </a:tblPr>
              <a:tblGrid>
                <a:gridCol w="2088100"/>
                <a:gridCol w="2207375"/>
                <a:gridCol w="2169325"/>
                <a:gridCol w="2677775"/>
                <a:gridCol w="2671500"/>
              </a:tblGrid>
              <a:tr h="31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CRITÉRIO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BUSCA PELO MENOR CUSTO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ALGORITMO DE DIJKSTRA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BUSCA GULOSA (GREEDY)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BUSCA A*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359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47A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0D47A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FUNÇÃO DE CUSTO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f(s) = g(s)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 acumulado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f(s) = g(s)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 otimizações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f(s) = h(s)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Heurística estimada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f(s) = g(s) + h(s)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 + heurística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1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47A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0D47A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OTIMALIDADE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5316"/>
                        </a:buClr>
                        <a:buSzPts val="1050"/>
                        <a:buFont typeface="Noto Sans Symbols"/>
                        <a:buChar char="✔"/>
                      </a:pPr>
                      <a:r>
                        <a:rPr lang="pt-BR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Garante solução ótima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5316"/>
                        </a:buClr>
                        <a:buSzPts val="1050"/>
                        <a:buFont typeface="Noto Sans Symbols"/>
                        <a:buChar char="✔"/>
                      </a:pPr>
                      <a:r>
                        <a:rPr lang="pt-BR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Garante solução ótima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50"/>
                        <a:buFont typeface="Arial"/>
                        <a:buChar char="×"/>
                      </a:pPr>
                      <a:r>
                        <a:rPr lang="pt-BR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Não garante ótimo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5316"/>
                        </a:buClr>
                        <a:buSzPts val="1050"/>
                        <a:buFont typeface="Noto Sans Symbols"/>
                        <a:buChar char="✔"/>
                      </a:pPr>
                      <a:r>
                        <a:rPr lang="pt-BR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Garante solução ótima*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1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47A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0D47A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COMPLETUDE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5316"/>
                        </a:buClr>
                        <a:buSzPts val="1050"/>
                        <a:buFont typeface="Noto Sans Symbols"/>
                        <a:buChar char="✔"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Completo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5316"/>
                        </a:buClr>
                        <a:buSzPts val="1050"/>
                        <a:buFont typeface="Noto Sans Symbols"/>
                        <a:buChar char="✔"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50"/>
                        <a:buFont typeface="Arial"/>
                        <a:buChar char="×"/>
                      </a:pPr>
                      <a:r>
                        <a:rPr lang="pt-BR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Pode falhar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5316"/>
                        </a:buClr>
                        <a:buSzPts val="1050"/>
                        <a:buFont typeface="Noto Sans Symbols"/>
                        <a:buChar char="✔"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31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47A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0D47A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VELOCIDADE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Lento, explora muitos nós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Moderado, usa podas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Rápido, expansão direcionada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Eficiente, balanceado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31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47A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0D47A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REQUISITOS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Apenas custos das arestas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Custos não-negativos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Função heurística h(s)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Heurística admissível**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31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47A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0D47A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APLICABILIDADE VRP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Problemas pequenos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Rotas ponto-a-ponto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Soluções rápidas aproximadas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Problemas médios/grandes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31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47A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0D47A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VANTAGENS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Simples, sempre encontra ótimo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Eficiente para grafos densos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Muito rápido, baixo uso de memória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Ótimo equilíbrio custo-benefício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31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47A1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0D47A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LIMITAÇÕES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Alto custo computacional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Não aceita pesos negativos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Pode ficar preso em mínimos locais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Times New Roman"/>
                        <a:buNone/>
                      </a:pPr>
                      <a:r>
                        <a:rPr lang="pt-BR" sz="105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 boa heurística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83" name="Google Shape;183;p9"/>
          <p:cNvSpPr txBox="1"/>
          <p:nvPr/>
        </p:nvSpPr>
        <p:spPr>
          <a:xfrm>
            <a:off x="398643" y="5240813"/>
            <a:ext cx="9903142" cy="1444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Conclusão: 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otimização de rotas de e-commerce, o </a:t>
            </a:r>
            <a:r>
              <a:rPr b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Algoritmo de Dijkstra 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 amplamente utilizado para calcular caminhos mínimos entre pares de pontos, enquanto a </a:t>
            </a:r>
            <a:r>
              <a:rPr b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Busca A*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oferece melhor desempenho quando se dispõe de boas heurísticas (como distância euclidiana). Para problemas de grande escala, abordagens híbridas combinando esses algoritmos com meta-heurísticas (algoritmos genéticos, busca tabu) são recomendadas.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Com heurística admissível | ** Heurística que nunca superestima o custo real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060"/>
            </a:gs>
            <a:gs pos="100000">
              <a:schemeClr val="lt1"/>
            </a:gs>
          </a:gsLst>
          <a:lin ang="2700000" scaled="0"/>
        </a:gra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Uninove" id="188" name="Google Shape;1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7879" y="5878070"/>
            <a:ext cx="1974121" cy="99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/>
          <p:nvPr/>
        </p:nvSpPr>
        <p:spPr>
          <a:xfrm>
            <a:off x="398643" y="369532"/>
            <a:ext cx="6601763" cy="393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Discussão e Conclusões</a:t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289461" y="763214"/>
            <a:ext cx="5101405" cy="141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Desempenho dos Algoritmos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algoritmos de busca, especialmente Dijkstra e A*, demonstraram eficácia comprovada na otimização de rotas de entrega para e-commerce. Estudos empíricos mostram que a aplicação desses algoritmos resulta em reduções significativas de distância percorrida (aproximadamente 10 km por rota) e custos operacionais (até 20%), conforme documentado por Lin (2023) e Hou (2022).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5928261" y="763214"/>
            <a:ext cx="5101405" cy="141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❑"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Desafios Práticos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Apesar dos benefícios evidentes, a implementação de algoritmos de busca em ambientes reais de e-commerce enfrenta desafios relacionados à dinâmica do tráfego urbano, restrições de janelas de tempo, capacidade dos veículos e necessidade de adaptação em tempo real a mudanças imprevistas. A integração com sistemas legados e a qualidade dos dados geoespaciais também são fatores críticos para o sucesso da implementação</a:t>
            </a:r>
            <a:r>
              <a:rPr b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399624" y="2187604"/>
            <a:ext cx="4991242" cy="275288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Vantagens da Abordagem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75316"/>
              </a:buClr>
              <a:buSzPts val="1400"/>
              <a:buFont typeface="Noto Sans Symbols"/>
              <a:buChar char="✔"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Otimalidade garantida: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Algoritmos como Dijkstra e A* garantem encontrar a solução ótima quando aplicados corretamente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75316"/>
              </a:buClr>
              <a:buSzPts val="1400"/>
              <a:buFont typeface="Noto Sans Symbols"/>
              <a:buChar char="✔"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Redução de custos: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Diminuição significativa de gastos com combustível, tempo de entrega e manutenção de veículos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75316"/>
              </a:buClr>
              <a:buSzPts val="1400"/>
              <a:buFont typeface="Noto Sans Symbols"/>
              <a:buChar char="✔"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Escalabilidade: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Aplicável a diferentes tamanhos de operação, desde pequenas empresas até grandes redes logísticas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75316"/>
              </a:buClr>
              <a:buSzPts val="1400"/>
              <a:buFont typeface="Noto Sans Symbols"/>
              <a:buChar char="✔"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Melhoria na satisfação do cliente: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Entregas mais rápidas e previsíveis aumentam a confiança e fidelização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75316"/>
              </a:buClr>
              <a:buSzPts val="1400"/>
              <a:buFont typeface="Noto Sans Symbols"/>
              <a:buChar char="✔"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Sustentabilidade: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Redução de emissões de CO₂ através da otimização de rotas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096000" y="2187604"/>
            <a:ext cx="5413029" cy="2752886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E651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Limitações e Considerações</a:t>
            </a:r>
            <a:endParaRPr b="1" sz="1400">
              <a:solidFill>
                <a:srgbClr val="E651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⮚"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Complexidade computacional: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Problemas de grande escala podem exigir recursos computacionais significativos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⮚"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Dados em tempo real: 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Dependência de informações atualizadas sobre tráfego e condições das vias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⮚"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Restrições múltiplas: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Dificuldade em modelar todas as restrições do mundo real simultaneamente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⮚"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Heurísticas adequadas: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A* requer heurísticas bem projetadas para garantir desempenho ótimo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⮚"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Custos de implementação: 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Investimento inicial em infraestrutura tecnológica e treinamento</a:t>
            </a:r>
            <a:endParaRPr/>
          </a:p>
        </p:txBody>
      </p:sp>
      <p:sp>
        <p:nvSpPr>
          <p:cNvPr id="194" name="Google Shape;194;p10"/>
          <p:cNvSpPr txBox="1"/>
          <p:nvPr/>
        </p:nvSpPr>
        <p:spPr>
          <a:xfrm>
            <a:off x="289461" y="5077851"/>
            <a:ext cx="9749896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Conclusão Final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aplicação de </a:t>
            </a: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algoritmos de busca no espaço de estados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particularmente o Algoritmo de Dijkstra e a Busca A*, representa uma solução eficaz e comprovada para o problema de otimização de rotas de entrega no e-commerce. Os resultados empíricos demonstram que essas técnicas proporcionam </a:t>
            </a:r>
            <a:r>
              <a:rPr b="1"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benefícios econômicos e operacionais substanciais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contribuindo para a competitividade das empresas e a sustentabilidade ambiental. Para maximizar os benefícios, recomenda-se a integração dessas técnicas com abordagens de otimização em tempo real e o uso de dados de alta qualidade. Trabalhos futuros devem explorar a combinação de algoritmos clássicos com técnicas de aprendizado de máquina para lidar com a crescente complexidade e dinamismo das operações logísticas modernas.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060"/>
            </a:gs>
            <a:gs pos="100000">
              <a:schemeClr val="lt1"/>
            </a:gs>
          </a:gsLst>
          <a:lin ang="2700000" scaled="0"/>
        </a:gra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m para Uninove" id="199" name="Google Shape;1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7879" y="5878070"/>
            <a:ext cx="1974121" cy="994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/>
          <p:nvPr/>
        </p:nvSpPr>
        <p:spPr>
          <a:xfrm>
            <a:off x="398643" y="697078"/>
            <a:ext cx="6601763" cy="393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Referências Bibliográficas</a:t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270325" y="1189381"/>
            <a:ext cx="11651349" cy="4688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Artigos Científicos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GARCIA, H. B.; OLIVEIRA, F. C.; LACERDA, P. S. P.  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Aplicação de algoritmos de Inteligência Artificial na otimização de rotas de distribuição na Engenharia de Produção. </a:t>
            </a:r>
            <a:r>
              <a:rPr b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Revista Acadêmica - Centro Universitário Sumaré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v. 3, maio 2024. Disponível em: </a:t>
            </a:r>
            <a:r>
              <a:rPr b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https://sumare.edu.br/revista-academica/artigos/engenharia/2024-v3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Acesso em: 10 out. 2025.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HOU, X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Rural E-commerce Customer Path Planning Based on Dijkstra Algorithm. In: 2022 International Conference on Knowledge Engineering and Communication Systems (ICKECS), Chickballapur, India, 2022, pp. 1-6. DOI: 10.1109/ICKECS56523.2022.10060427. Disponível em: </a:t>
            </a:r>
            <a:r>
              <a:rPr b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https://ieeexplore.ieee.org/document/10060427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Acesso em: 10 out. 2025</a:t>
            </a: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LIN, S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Path Optimization of e-Commerce Logistics Terminal Distribution Mode Based on Dijkstra Algorithm. In: ATIQUZZAMAN, M.; YEN, N.; XU, Z. (eds).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Proceedings of the 4th International Conference on Big Data Analytics for Cyber-Physical System in Smart City. BDCPS 2022. Lecture Notes on Data Engineering and Communications Technologies, vol 167. Springer, Singapore, 2023, pp. 195-204. DOI: 10.1007/978-981-99-0880-6_22. Disponível em: </a:t>
            </a:r>
            <a:r>
              <a:rPr b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https://link.springer.com/chapter/10.1007/978-981-99-0880-6_22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Acesso em: 10 out. 2025.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 Didático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SOUZA, E. M.; ARAÚJO, S. A. 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Resolução de Problemas em Ciência de Dados: Busca no Espaço de Estados. - </a:t>
            </a:r>
            <a:r>
              <a:rPr b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 de Aula 03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Especialização em IA/AM/Ciência de Dados, Universidade Nove de Julho (UNINOVE), 2025.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SOUZA, E. M.; ARAÚJO, S. A. 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Resolução de Problemas em Ciência de Dados: Redes Neurais Artificiais. - </a:t>
            </a:r>
            <a:r>
              <a:rPr b="1"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 de Aula 06</a:t>
            </a:r>
            <a:r>
              <a:rPr lang="pt-B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Especialização em IA/AM/Ciência de Dados, Universidade Nove de Julho (UNINOVE), 2025.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2025-10-16T13:30:42Z</dcterms:created>
  <dc:creator>Sidnei Henrique Dos Santos Junior</dc:creator>
</cp:coreProperties>
</file>