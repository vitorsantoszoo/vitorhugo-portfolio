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642938"/>
            <a:ext cx="857250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575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[NOME DA INSTITUIÇÃO]</a:t>
            </a:r>
            <a:endParaRPr lang="en-US" sz="1575" dirty="0"/>
          </a:p>
        </p:txBody>
      </p:sp>
      <p:sp>
        <p:nvSpPr>
          <p:cNvPr id="4" name="Text 1"/>
          <p:cNvSpPr/>
          <p:nvPr/>
        </p:nvSpPr>
        <p:spPr>
          <a:xfrm>
            <a:off x="285750" y="1085850"/>
            <a:ext cx="857250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575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[NOME DO CURSO]</a:t>
            </a:r>
            <a:endParaRPr lang="en-US" sz="1575" dirty="0"/>
          </a:p>
        </p:txBody>
      </p:sp>
      <p:sp>
        <p:nvSpPr>
          <p:cNvPr id="5" name="Text 2"/>
          <p:cNvSpPr/>
          <p:nvPr/>
        </p:nvSpPr>
        <p:spPr>
          <a:xfrm>
            <a:off x="285750" y="1528763"/>
            <a:ext cx="85725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Probabilidade do ZAP no Truco Paulista: Uma Análise com Simulação de Monte Carlo</a:t>
            </a:r>
            <a:endParaRPr lang="en-US" sz="2025" dirty="0"/>
          </a:p>
        </p:txBody>
      </p:sp>
      <p:sp>
        <p:nvSpPr>
          <p:cNvPr id="6" name="Text 3"/>
          <p:cNvSpPr/>
          <p:nvPr/>
        </p:nvSpPr>
        <p:spPr>
          <a:xfrm>
            <a:off x="285750" y="3157538"/>
            <a:ext cx="8572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[SEU NOME COMPLETO]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836473" y="3996928"/>
            <a:ext cx="147105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[Cidade] - [Estado]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375854" y="4254103"/>
            <a:ext cx="39229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2025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 INTRODUÇÃO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885825"/>
            <a:ext cx="4179094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just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O Truco Paulista é um jogo de cartas popular no Brasil, caracterizado por sua dinâmica de blefes e apostas. 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285750" y="1810941"/>
            <a:ext cx="293234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just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 carta mais poderosa do jogo é o 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3218092" y="1810941"/>
            <a:ext cx="32526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just" indent="0" marL="0">
              <a:buNone/>
            </a:pPr>
            <a:r>
              <a:rPr lang="en-US" sz="1350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ZAP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543356" y="1810941"/>
            <a:ext cx="92148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just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a manilha 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285750" y="2068116"/>
            <a:ext cx="417909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just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 Paus, que garante uma grande vantagem ao 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285750" y="2325291"/>
            <a:ext cx="173713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just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jogador que a possui. 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285750" y="2714625"/>
            <a:ext cx="4179094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just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Este trabalho tem como objetivo geral calcular a probabilidade de um jogador receber o ZAP em diferentes cenários de jogo (individual, dupla e trio) e com diferentes tipos de baralho (sujo e limpo). 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285750" y="3896916"/>
            <a:ext cx="330691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just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Para isso, foi utilizada a metodologia de 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3592664" y="3896916"/>
            <a:ext cx="87217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just" indent="0" marL="0">
              <a:buNone/>
            </a:pPr>
            <a:r>
              <a:rPr lang="en-US" sz="1350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simulação 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285750" y="4154091"/>
            <a:ext cx="146427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just" indent="0" marL="0">
              <a:buNone/>
            </a:pPr>
            <a:r>
              <a:rPr lang="en-US" sz="1350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 Monte Carlo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1750023" y="4154091"/>
            <a:ext cx="271479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just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implementada em linguagem 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285750" y="4411266"/>
            <a:ext cx="61466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just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Python. </a:t>
            </a:r>
            <a:endParaRPr lang="en-US" sz="13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2766" y="1617864"/>
            <a:ext cx="3571847" cy="2114913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785265" y="3875652"/>
            <a:ext cx="196687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i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Figura 1 - Cartas do Truco Paulista</a:t>
            </a:r>
            <a:endParaRPr lang="en-US" sz="94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5292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 FUNDAMENTAÇÃO TEÓRICA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1028700"/>
            <a:ext cx="4179094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75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2.1 Regras do Truco Paulista</a:t>
            </a:r>
            <a:endParaRPr lang="en-US" sz="1575" dirty="0"/>
          </a:p>
        </p:txBody>
      </p:sp>
      <p:sp>
        <p:nvSpPr>
          <p:cNvPr id="5" name="Text 2"/>
          <p:cNvSpPr/>
          <p:nvPr/>
        </p:nvSpPr>
        <p:spPr>
          <a:xfrm>
            <a:off x="285750" y="1435894"/>
            <a:ext cx="6448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21677" y="1446609"/>
            <a:ext cx="71666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Baralho: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138340" y="1446609"/>
            <a:ext cx="288328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Sujo (40 cartas) e Limpo (24 cartas).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285750" y="1764506"/>
            <a:ext cx="6448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21677" y="1775222"/>
            <a:ext cx="108905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Distribuição: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510736" y="1775222"/>
            <a:ext cx="169393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3 cartas por jogador.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285750" y="2093119"/>
            <a:ext cx="6448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21677" y="2103834"/>
            <a:ext cx="83274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Manilhas: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254426" y="2103834"/>
            <a:ext cx="300880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Definidas pela "Vira", com a seguinte 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21677" y="2361009"/>
            <a:ext cx="384649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ordem de força: Paus (ZAP) &gt; Copas &gt; Espadas &gt; 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21677" y="2618184"/>
            <a:ext cx="5390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Ouros.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285750" y="3007519"/>
            <a:ext cx="4179094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75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2.2 Simulação de Monte Carlo</a:t>
            </a:r>
            <a:endParaRPr lang="en-US" sz="1575" dirty="0"/>
          </a:p>
        </p:txBody>
      </p:sp>
      <p:sp>
        <p:nvSpPr>
          <p:cNvPr id="17" name="Text 14"/>
          <p:cNvSpPr/>
          <p:nvPr/>
        </p:nvSpPr>
        <p:spPr>
          <a:xfrm>
            <a:off x="285750" y="3414713"/>
            <a:ext cx="6448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421677" y="3414713"/>
            <a:ext cx="4043167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Método estatístico que utiliza amostragem aleatória para obter resultados numéricos.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285750" y="4000500"/>
            <a:ext cx="6448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421677" y="4000500"/>
            <a:ext cx="4043167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Aplicado em problemas complexos onde uma solução analítica é inviável.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285750" y="4586288"/>
            <a:ext cx="6448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421677" y="4586288"/>
            <a:ext cx="4043167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precisão do método aumenta com o número de simulações.</a:t>
            </a:r>
            <a:endParaRPr lang="en-US" sz="135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5641" y="2286000"/>
            <a:ext cx="3286125" cy="102870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4679156" y="3457575"/>
            <a:ext cx="417909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i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Figura 2 - Manilhas do Truco Paulista com destaque para o ZAP (manilha de Paus)</a:t>
            </a:r>
            <a:endParaRPr lang="en-US" sz="94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720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 METODOLOGIA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921544"/>
            <a:ext cx="4179094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75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3.1 Implementação em Python</a:t>
            </a:r>
            <a:endParaRPr lang="en-US" sz="1575" dirty="0"/>
          </a:p>
        </p:txBody>
      </p:sp>
      <p:sp>
        <p:nvSpPr>
          <p:cNvPr id="5" name="Text 2"/>
          <p:cNvSpPr/>
          <p:nvPr/>
        </p:nvSpPr>
        <p:spPr>
          <a:xfrm>
            <a:off x="285750" y="1293019"/>
            <a:ext cx="59103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1238" dirty="0"/>
          </a:p>
        </p:txBody>
      </p:sp>
      <p:sp>
        <p:nvSpPr>
          <p:cNvPr id="6" name="Text 3"/>
          <p:cNvSpPr/>
          <p:nvPr/>
        </p:nvSpPr>
        <p:spPr>
          <a:xfrm>
            <a:off x="416291" y="1303734"/>
            <a:ext cx="76538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Biblioteca </a:t>
            </a:r>
            <a:endParaRPr lang="en-US" sz="1238" dirty="0"/>
          </a:p>
        </p:txBody>
      </p:sp>
      <p:sp>
        <p:nvSpPr>
          <p:cNvPr id="7" name="Text 4"/>
          <p:cNvSpPr/>
          <p:nvPr/>
        </p:nvSpPr>
        <p:spPr>
          <a:xfrm>
            <a:off x="1181677" y="1303734"/>
            <a:ext cx="61751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random</a:t>
            </a:r>
            <a:endParaRPr lang="en-US" sz="1238" dirty="0"/>
          </a:p>
        </p:txBody>
      </p:sp>
      <p:sp>
        <p:nvSpPr>
          <p:cNvPr id="8" name="Text 5"/>
          <p:cNvSpPr/>
          <p:nvPr/>
        </p:nvSpPr>
        <p:spPr>
          <a:xfrm>
            <a:off x="1799193" y="1303734"/>
            <a:ext cx="173933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para embaralhamento.</a:t>
            </a:r>
            <a:endParaRPr lang="en-US" sz="1238" dirty="0"/>
          </a:p>
        </p:txBody>
      </p:sp>
      <p:sp>
        <p:nvSpPr>
          <p:cNvPr id="9" name="Text 6"/>
          <p:cNvSpPr/>
          <p:nvPr/>
        </p:nvSpPr>
        <p:spPr>
          <a:xfrm>
            <a:off x="285750" y="1585913"/>
            <a:ext cx="59103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1238" dirty="0"/>
          </a:p>
        </p:txBody>
      </p:sp>
      <p:sp>
        <p:nvSpPr>
          <p:cNvPr id="10" name="Text 7"/>
          <p:cNvSpPr/>
          <p:nvPr/>
        </p:nvSpPr>
        <p:spPr>
          <a:xfrm>
            <a:off x="416291" y="1596628"/>
            <a:ext cx="69325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Funções: </a:t>
            </a:r>
            <a:endParaRPr lang="en-US" sz="1238" dirty="0"/>
          </a:p>
        </p:txBody>
      </p:sp>
      <p:sp>
        <p:nvSpPr>
          <p:cNvPr id="11" name="Text 8"/>
          <p:cNvSpPr/>
          <p:nvPr/>
        </p:nvSpPr>
        <p:spPr>
          <a:xfrm>
            <a:off x="1109542" y="1596628"/>
            <a:ext cx="103696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criar_baralho</a:t>
            </a:r>
            <a:endParaRPr lang="en-US" sz="1238" dirty="0"/>
          </a:p>
        </p:txBody>
      </p:sp>
      <p:sp>
        <p:nvSpPr>
          <p:cNvPr id="12" name="Text 9"/>
          <p:cNvSpPr/>
          <p:nvPr/>
        </p:nvSpPr>
        <p:spPr>
          <a:xfrm>
            <a:off x="2146502" y="1596628"/>
            <a:ext cx="8299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</a:t>
            </a:r>
            <a:endParaRPr lang="en-US" sz="1238" dirty="0"/>
          </a:p>
        </p:txBody>
      </p:sp>
      <p:sp>
        <p:nvSpPr>
          <p:cNvPr id="13" name="Text 10"/>
          <p:cNvSpPr/>
          <p:nvPr/>
        </p:nvSpPr>
        <p:spPr>
          <a:xfrm>
            <a:off x="2229492" y="1596628"/>
            <a:ext cx="131294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definir_manilhas</a:t>
            </a:r>
            <a:endParaRPr lang="en-US" sz="1238" dirty="0"/>
          </a:p>
        </p:txBody>
      </p:sp>
      <p:sp>
        <p:nvSpPr>
          <p:cNvPr id="14" name="Text 11"/>
          <p:cNvSpPr/>
          <p:nvPr/>
        </p:nvSpPr>
        <p:spPr>
          <a:xfrm>
            <a:off x="3542435" y="1596628"/>
            <a:ext cx="4213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</a:t>
            </a:r>
            <a:endParaRPr lang="en-US" sz="1238" dirty="0"/>
          </a:p>
        </p:txBody>
      </p:sp>
      <p:sp>
        <p:nvSpPr>
          <p:cNvPr id="15" name="Text 12"/>
          <p:cNvSpPr/>
          <p:nvPr/>
        </p:nvSpPr>
        <p:spPr>
          <a:xfrm>
            <a:off x="416291" y="1832372"/>
            <a:ext cx="121675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simular_rodada</a:t>
            </a:r>
            <a:endParaRPr lang="en-US" sz="1238" dirty="0"/>
          </a:p>
        </p:txBody>
      </p:sp>
      <p:sp>
        <p:nvSpPr>
          <p:cNvPr id="16" name="Text 13"/>
          <p:cNvSpPr/>
          <p:nvPr/>
        </p:nvSpPr>
        <p:spPr>
          <a:xfrm>
            <a:off x="1633045" y="1832372"/>
            <a:ext cx="4213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  <a:endParaRPr lang="en-US" sz="1238" dirty="0"/>
          </a:p>
        </p:txBody>
      </p:sp>
      <p:sp>
        <p:nvSpPr>
          <p:cNvPr id="17" name="Text 14"/>
          <p:cNvSpPr/>
          <p:nvPr/>
        </p:nvSpPr>
        <p:spPr>
          <a:xfrm>
            <a:off x="285750" y="2164556"/>
            <a:ext cx="4179094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75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3.2 Variáveis do Estudo</a:t>
            </a:r>
            <a:endParaRPr lang="en-US" sz="1575" dirty="0"/>
          </a:p>
        </p:txBody>
      </p:sp>
      <p:sp>
        <p:nvSpPr>
          <p:cNvPr id="18" name="Text 15"/>
          <p:cNvSpPr/>
          <p:nvPr/>
        </p:nvSpPr>
        <p:spPr>
          <a:xfrm>
            <a:off x="285750" y="2536031"/>
            <a:ext cx="59103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1238" dirty="0"/>
          </a:p>
        </p:txBody>
      </p:sp>
      <p:sp>
        <p:nvSpPr>
          <p:cNvPr id="19" name="Text 16"/>
          <p:cNvSpPr/>
          <p:nvPr/>
        </p:nvSpPr>
        <p:spPr>
          <a:xfrm>
            <a:off x="416291" y="2546747"/>
            <a:ext cx="123201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Independentes:</a:t>
            </a:r>
            <a:endParaRPr lang="en-US" sz="1238" dirty="0"/>
          </a:p>
        </p:txBody>
      </p:sp>
      <p:sp>
        <p:nvSpPr>
          <p:cNvPr id="20" name="Text 17"/>
          <p:cNvSpPr/>
          <p:nvPr/>
        </p:nvSpPr>
        <p:spPr>
          <a:xfrm>
            <a:off x="1648309" y="2546747"/>
            <a:ext cx="252796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Jogadores (2, 4, 6) e baralho (sujo, </a:t>
            </a:r>
            <a:endParaRPr lang="en-US" sz="1238" dirty="0"/>
          </a:p>
        </p:txBody>
      </p:sp>
      <p:sp>
        <p:nvSpPr>
          <p:cNvPr id="21" name="Text 18"/>
          <p:cNvSpPr/>
          <p:nvPr/>
        </p:nvSpPr>
        <p:spPr>
          <a:xfrm>
            <a:off x="416291" y="2782491"/>
            <a:ext cx="50907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limpo).</a:t>
            </a:r>
            <a:endParaRPr lang="en-US" sz="1238" dirty="0"/>
          </a:p>
        </p:txBody>
      </p:sp>
      <p:sp>
        <p:nvSpPr>
          <p:cNvPr id="22" name="Text 19"/>
          <p:cNvSpPr/>
          <p:nvPr/>
        </p:nvSpPr>
        <p:spPr>
          <a:xfrm>
            <a:off x="285750" y="3064669"/>
            <a:ext cx="59103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1238" dirty="0"/>
          </a:p>
        </p:txBody>
      </p:sp>
      <p:sp>
        <p:nvSpPr>
          <p:cNvPr id="23" name="Text 20"/>
          <p:cNvSpPr/>
          <p:nvPr/>
        </p:nvSpPr>
        <p:spPr>
          <a:xfrm>
            <a:off x="416291" y="3075384"/>
            <a:ext cx="100632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Dependente:</a:t>
            </a:r>
            <a:endParaRPr lang="en-US" sz="1238" dirty="0"/>
          </a:p>
        </p:txBody>
      </p:sp>
      <p:sp>
        <p:nvSpPr>
          <p:cNvPr id="24" name="Text 21"/>
          <p:cNvSpPr/>
          <p:nvPr/>
        </p:nvSpPr>
        <p:spPr>
          <a:xfrm>
            <a:off x="1422611" y="3075384"/>
            <a:ext cx="238165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Probabilidade de receber o ZAP.</a:t>
            </a:r>
            <a:endParaRPr lang="en-US" sz="1238" dirty="0"/>
          </a:p>
        </p:txBody>
      </p:sp>
      <p:sp>
        <p:nvSpPr>
          <p:cNvPr id="25" name="Text 22"/>
          <p:cNvSpPr/>
          <p:nvPr/>
        </p:nvSpPr>
        <p:spPr>
          <a:xfrm>
            <a:off x="285750" y="3407569"/>
            <a:ext cx="4179094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75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3.3 Procedimento</a:t>
            </a:r>
            <a:endParaRPr lang="en-US" sz="1575" dirty="0"/>
          </a:p>
        </p:txBody>
      </p:sp>
      <p:sp>
        <p:nvSpPr>
          <p:cNvPr id="26" name="Shape 23"/>
          <p:cNvSpPr/>
          <p:nvPr/>
        </p:nvSpPr>
        <p:spPr>
          <a:xfrm>
            <a:off x="285750" y="3814763"/>
            <a:ext cx="200025" cy="200025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27" name="Text 24"/>
          <p:cNvSpPr/>
          <p:nvPr/>
        </p:nvSpPr>
        <p:spPr>
          <a:xfrm>
            <a:off x="285750" y="3814763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837" dirty="0"/>
          </a:p>
        </p:txBody>
      </p:sp>
      <p:sp>
        <p:nvSpPr>
          <p:cNvPr id="28" name="Text 25"/>
          <p:cNvSpPr/>
          <p:nvPr/>
        </p:nvSpPr>
        <p:spPr>
          <a:xfrm>
            <a:off x="571500" y="3814763"/>
            <a:ext cx="3403383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Definição do número de simulações (100.000).</a:t>
            </a:r>
            <a:endParaRPr lang="en-US" sz="1238" dirty="0"/>
          </a:p>
        </p:txBody>
      </p:sp>
      <p:sp>
        <p:nvSpPr>
          <p:cNvPr id="29" name="Shape 26"/>
          <p:cNvSpPr/>
          <p:nvPr/>
        </p:nvSpPr>
        <p:spPr>
          <a:xfrm>
            <a:off x="285750" y="4107656"/>
            <a:ext cx="200025" cy="200025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30" name="Text 27"/>
          <p:cNvSpPr/>
          <p:nvPr/>
        </p:nvSpPr>
        <p:spPr>
          <a:xfrm>
            <a:off x="285750" y="4107656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837" dirty="0"/>
          </a:p>
        </p:txBody>
      </p:sp>
      <p:sp>
        <p:nvSpPr>
          <p:cNvPr id="31" name="Text 28"/>
          <p:cNvSpPr/>
          <p:nvPr/>
        </p:nvSpPr>
        <p:spPr>
          <a:xfrm>
            <a:off x="571500" y="4107656"/>
            <a:ext cx="306090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Loop para cada cenário e tipo de baralho.</a:t>
            </a:r>
            <a:endParaRPr lang="en-US" sz="1238" dirty="0"/>
          </a:p>
        </p:txBody>
      </p:sp>
      <p:sp>
        <p:nvSpPr>
          <p:cNvPr id="32" name="Shape 29"/>
          <p:cNvSpPr/>
          <p:nvPr/>
        </p:nvSpPr>
        <p:spPr>
          <a:xfrm>
            <a:off x="285750" y="4400550"/>
            <a:ext cx="200025" cy="200025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33" name="Text 30"/>
          <p:cNvSpPr/>
          <p:nvPr/>
        </p:nvSpPr>
        <p:spPr>
          <a:xfrm>
            <a:off x="285750" y="4400550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837" dirty="0"/>
          </a:p>
        </p:txBody>
      </p:sp>
      <p:sp>
        <p:nvSpPr>
          <p:cNvPr id="34" name="Text 31"/>
          <p:cNvSpPr/>
          <p:nvPr/>
        </p:nvSpPr>
        <p:spPr>
          <a:xfrm>
            <a:off x="571500" y="4400550"/>
            <a:ext cx="239801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Contagem da ocorrência do ZAP.</a:t>
            </a:r>
            <a:endParaRPr lang="en-US" sz="1238" dirty="0"/>
          </a:p>
        </p:txBody>
      </p:sp>
      <p:sp>
        <p:nvSpPr>
          <p:cNvPr id="35" name="Shape 32"/>
          <p:cNvSpPr/>
          <p:nvPr/>
        </p:nvSpPr>
        <p:spPr>
          <a:xfrm>
            <a:off x="285750" y="4693444"/>
            <a:ext cx="200025" cy="200025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36" name="Text 33"/>
          <p:cNvSpPr/>
          <p:nvPr/>
        </p:nvSpPr>
        <p:spPr>
          <a:xfrm>
            <a:off x="285750" y="4693444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837" dirty="0"/>
          </a:p>
        </p:txBody>
      </p:sp>
      <p:sp>
        <p:nvSpPr>
          <p:cNvPr id="37" name="Text 34"/>
          <p:cNvSpPr/>
          <p:nvPr/>
        </p:nvSpPr>
        <p:spPr>
          <a:xfrm>
            <a:off x="571500" y="4693444"/>
            <a:ext cx="223298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Cálculo da probabilidade final.</a:t>
            </a:r>
            <a:endParaRPr lang="en-US" sz="1238" dirty="0"/>
          </a:p>
        </p:txBody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1359" y="1624589"/>
            <a:ext cx="3214660" cy="2272940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5185470" y="4004686"/>
            <a:ext cx="316646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i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Figura 3 - Diagrama do processo de simulação de Monte Carlo</a:t>
            </a:r>
            <a:endParaRPr lang="en-US" sz="837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7761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 ANÁLISE DO CÓDIGO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814388"/>
            <a:ext cx="4179094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75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Função Principal</a:t>
            </a:r>
            <a:endParaRPr lang="en-US" sz="1575" dirty="0"/>
          </a:p>
        </p:txBody>
      </p:sp>
      <p:sp>
        <p:nvSpPr>
          <p:cNvPr id="5" name="Text 2"/>
          <p:cNvSpPr/>
          <p:nvPr/>
        </p:nvSpPr>
        <p:spPr>
          <a:xfrm>
            <a:off x="285750" y="1223367"/>
            <a:ext cx="68917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 função </a:t>
            </a:r>
            <a:endParaRPr lang="en-US" sz="1238" dirty="0"/>
          </a:p>
        </p:txBody>
      </p:sp>
      <p:sp>
        <p:nvSpPr>
          <p:cNvPr id="6" name="Text 3"/>
          <p:cNvSpPr/>
          <p:nvPr/>
        </p:nvSpPr>
        <p:spPr>
          <a:xfrm>
            <a:off x="974927" y="1223367"/>
            <a:ext cx="163527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simular_monte_carlo</a:t>
            </a:r>
            <a:endParaRPr lang="en-US" sz="1238" dirty="0"/>
          </a:p>
        </p:txBody>
      </p:sp>
      <p:sp>
        <p:nvSpPr>
          <p:cNvPr id="7" name="Text 4"/>
          <p:cNvSpPr/>
          <p:nvPr/>
        </p:nvSpPr>
        <p:spPr>
          <a:xfrm>
            <a:off x="2610203" y="1223367"/>
            <a:ext cx="13549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é responsável por </a:t>
            </a:r>
            <a:endParaRPr lang="en-US" sz="1238" dirty="0"/>
          </a:p>
        </p:txBody>
      </p:sp>
      <p:sp>
        <p:nvSpPr>
          <p:cNvPr id="8" name="Text 5"/>
          <p:cNvSpPr/>
          <p:nvPr/>
        </p:nvSpPr>
        <p:spPr>
          <a:xfrm>
            <a:off x="285750" y="1443372"/>
            <a:ext cx="212297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orquestrar toda a simulação: </a:t>
            </a:r>
            <a:endParaRPr lang="en-US" sz="1238" dirty="0"/>
          </a:p>
        </p:txBody>
      </p:sp>
      <p:sp>
        <p:nvSpPr>
          <p:cNvPr id="9" name="Text 6"/>
          <p:cNvSpPr/>
          <p:nvPr/>
        </p:nvSpPr>
        <p:spPr>
          <a:xfrm>
            <a:off x="285750" y="1770534"/>
            <a:ext cx="207219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• Recebe como parâmetros: </a:t>
            </a:r>
            <a:endParaRPr lang="en-US" sz="1238" dirty="0"/>
          </a:p>
        </p:txBody>
      </p:sp>
      <p:sp>
        <p:nvSpPr>
          <p:cNvPr id="10" name="Text 7"/>
          <p:cNvSpPr/>
          <p:nvPr/>
        </p:nvSpPr>
        <p:spPr>
          <a:xfrm>
            <a:off x="2357940" y="1770534"/>
            <a:ext cx="13010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num_simulacoes</a:t>
            </a:r>
            <a:endParaRPr lang="en-US" sz="1238" dirty="0"/>
          </a:p>
        </p:txBody>
      </p:sp>
      <p:sp>
        <p:nvSpPr>
          <p:cNvPr id="11" name="Text 8"/>
          <p:cNvSpPr/>
          <p:nvPr/>
        </p:nvSpPr>
        <p:spPr>
          <a:xfrm>
            <a:off x="3658939" y="1770534"/>
            <a:ext cx="4213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</a:t>
            </a:r>
            <a:endParaRPr lang="en-US" sz="1238" dirty="0"/>
          </a:p>
        </p:txBody>
      </p:sp>
      <p:sp>
        <p:nvSpPr>
          <p:cNvPr id="12" name="Text 9"/>
          <p:cNvSpPr/>
          <p:nvPr/>
        </p:nvSpPr>
        <p:spPr>
          <a:xfrm>
            <a:off x="285750" y="1990539"/>
            <a:ext cx="120104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num_jogadores</a:t>
            </a:r>
            <a:endParaRPr lang="en-US" sz="1238" dirty="0"/>
          </a:p>
        </p:txBody>
      </p:sp>
      <p:sp>
        <p:nvSpPr>
          <p:cNvPr id="13" name="Text 10"/>
          <p:cNvSpPr/>
          <p:nvPr/>
        </p:nvSpPr>
        <p:spPr>
          <a:xfrm>
            <a:off x="1486793" y="1990539"/>
            <a:ext cx="8299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</a:t>
            </a:r>
            <a:endParaRPr lang="en-US" sz="1238" dirty="0"/>
          </a:p>
        </p:txBody>
      </p:sp>
      <p:sp>
        <p:nvSpPr>
          <p:cNvPr id="14" name="Text 11"/>
          <p:cNvSpPr/>
          <p:nvPr/>
        </p:nvSpPr>
        <p:spPr>
          <a:xfrm>
            <a:off x="1569783" y="1990539"/>
            <a:ext cx="98354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tipo_baralho</a:t>
            </a:r>
            <a:endParaRPr lang="en-US" sz="1238" dirty="0"/>
          </a:p>
        </p:txBody>
      </p:sp>
      <p:sp>
        <p:nvSpPr>
          <p:cNvPr id="15" name="Text 12"/>
          <p:cNvSpPr/>
          <p:nvPr/>
        </p:nvSpPr>
        <p:spPr>
          <a:xfrm>
            <a:off x="2553333" y="1990539"/>
            <a:ext cx="4213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 </a:t>
            </a:r>
            <a:endParaRPr lang="en-US" sz="1238" dirty="0"/>
          </a:p>
        </p:txBody>
      </p:sp>
      <p:sp>
        <p:nvSpPr>
          <p:cNvPr id="16" name="Text 13"/>
          <p:cNvSpPr/>
          <p:nvPr/>
        </p:nvSpPr>
        <p:spPr>
          <a:xfrm>
            <a:off x="285750" y="2317700"/>
            <a:ext cx="290719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• Para cada simulação, chama a função </a:t>
            </a:r>
            <a:endParaRPr lang="en-US" sz="1238" dirty="0"/>
          </a:p>
        </p:txBody>
      </p:sp>
      <p:sp>
        <p:nvSpPr>
          <p:cNvPr id="17" name="Text 14"/>
          <p:cNvSpPr/>
          <p:nvPr/>
        </p:nvSpPr>
        <p:spPr>
          <a:xfrm>
            <a:off x="3192949" y="2317700"/>
            <a:ext cx="121675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simular_rodada</a:t>
            </a:r>
            <a:endParaRPr lang="en-US" sz="1238" dirty="0"/>
          </a:p>
        </p:txBody>
      </p:sp>
      <p:sp>
        <p:nvSpPr>
          <p:cNvPr id="18" name="Text 15"/>
          <p:cNvSpPr/>
          <p:nvPr/>
        </p:nvSpPr>
        <p:spPr>
          <a:xfrm>
            <a:off x="285750" y="2537706"/>
            <a:ext cx="397309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que retorna um valor booleano indicando se o ZAP foi </a:t>
            </a:r>
            <a:endParaRPr lang="en-US" sz="1238" dirty="0"/>
          </a:p>
        </p:txBody>
      </p:sp>
      <p:sp>
        <p:nvSpPr>
          <p:cNvPr id="19" name="Text 16"/>
          <p:cNvSpPr/>
          <p:nvPr/>
        </p:nvSpPr>
        <p:spPr>
          <a:xfrm>
            <a:off x="285750" y="2757711"/>
            <a:ext cx="84287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distribuído. </a:t>
            </a:r>
            <a:endParaRPr lang="en-US" sz="1238" dirty="0"/>
          </a:p>
        </p:txBody>
      </p:sp>
      <p:sp>
        <p:nvSpPr>
          <p:cNvPr id="20" name="Text 17"/>
          <p:cNvSpPr/>
          <p:nvPr/>
        </p:nvSpPr>
        <p:spPr>
          <a:xfrm>
            <a:off x="285750" y="3084872"/>
            <a:ext cx="184071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• Incrementa o contador </a:t>
            </a:r>
            <a:endParaRPr lang="en-US" sz="1238" dirty="0"/>
          </a:p>
        </p:txBody>
      </p:sp>
      <p:sp>
        <p:nvSpPr>
          <p:cNvPr id="21" name="Text 18"/>
          <p:cNvSpPr/>
          <p:nvPr/>
        </p:nvSpPr>
        <p:spPr>
          <a:xfrm>
            <a:off x="2126466" y="3084872"/>
            <a:ext cx="112687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contagem_zap</a:t>
            </a:r>
            <a:endParaRPr lang="en-US" sz="1238" dirty="0"/>
          </a:p>
        </p:txBody>
      </p:sp>
      <p:sp>
        <p:nvSpPr>
          <p:cNvPr id="22" name="Text 19"/>
          <p:cNvSpPr/>
          <p:nvPr/>
        </p:nvSpPr>
        <p:spPr>
          <a:xfrm>
            <a:off x="3253336" y="3084872"/>
            <a:ext cx="107390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quando o ZAP </a:t>
            </a:r>
            <a:endParaRPr lang="en-US" sz="1238" dirty="0"/>
          </a:p>
        </p:txBody>
      </p:sp>
      <p:sp>
        <p:nvSpPr>
          <p:cNvPr id="23" name="Text 20"/>
          <p:cNvSpPr/>
          <p:nvPr/>
        </p:nvSpPr>
        <p:spPr>
          <a:xfrm>
            <a:off x="285750" y="3304877"/>
            <a:ext cx="62959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aparece. </a:t>
            </a:r>
            <a:endParaRPr lang="en-US" sz="1238" dirty="0"/>
          </a:p>
        </p:txBody>
      </p:sp>
      <p:sp>
        <p:nvSpPr>
          <p:cNvPr id="24" name="Text 21"/>
          <p:cNvSpPr/>
          <p:nvPr/>
        </p:nvSpPr>
        <p:spPr>
          <a:xfrm>
            <a:off x="285750" y="3630253"/>
            <a:ext cx="4179094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75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Cálculo da Probabilidade</a:t>
            </a:r>
            <a:endParaRPr lang="en-US" sz="1575" dirty="0"/>
          </a:p>
        </p:txBody>
      </p:sp>
      <p:sp>
        <p:nvSpPr>
          <p:cNvPr id="25" name="Shape 22"/>
          <p:cNvSpPr/>
          <p:nvPr/>
        </p:nvSpPr>
        <p:spPr>
          <a:xfrm>
            <a:off x="285750" y="4073165"/>
            <a:ext cx="4179094" cy="728663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6" name="Text 23"/>
          <p:cNvSpPr/>
          <p:nvPr/>
        </p:nvSpPr>
        <p:spPr>
          <a:xfrm>
            <a:off x="285750" y="4073165"/>
            <a:ext cx="4179094" cy="72866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probabilidade = contagem_zap / num_simulacoes 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285750" y="4944703"/>
            <a:ext cx="4179094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O resultado é formatado como porcentagem com duas casas decimais para apresentação. </a:t>
            </a:r>
            <a:endParaRPr lang="en-US" sz="1238" dirty="0"/>
          </a:p>
        </p:txBody>
      </p:sp>
      <p:sp>
        <p:nvSpPr>
          <p:cNvPr id="28" name="Shape 25"/>
          <p:cNvSpPr/>
          <p:nvPr/>
        </p:nvSpPr>
        <p:spPr>
          <a:xfrm>
            <a:off x="4679156" y="1913688"/>
            <a:ext cx="4179094" cy="2336006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9" name="Shape 26"/>
          <p:cNvSpPr/>
          <p:nvPr/>
        </p:nvSpPr>
        <p:spPr>
          <a:xfrm>
            <a:off x="4679156" y="1913688"/>
            <a:ext cx="28575" cy="2336006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0" name="Text 27"/>
          <p:cNvSpPr/>
          <p:nvPr/>
        </p:nvSpPr>
        <p:spPr>
          <a:xfrm>
            <a:off x="4786313" y="2029774"/>
            <a:ext cx="19583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D633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def</a:t>
            </a:r>
            <a:endParaRPr lang="en-US" sz="942" dirty="0"/>
          </a:p>
        </p:txBody>
      </p:sp>
      <p:sp>
        <p:nvSpPr>
          <p:cNvPr id="31" name="Text 28"/>
          <p:cNvSpPr/>
          <p:nvPr/>
        </p:nvSpPr>
        <p:spPr>
          <a:xfrm>
            <a:off x="5015610" y="2029774"/>
            <a:ext cx="12614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simular_monte_carlo</a:t>
            </a:r>
            <a:endParaRPr lang="en-US" sz="942" dirty="0"/>
          </a:p>
        </p:txBody>
      </p:sp>
      <p:sp>
        <p:nvSpPr>
          <p:cNvPr id="32" name="Text 29"/>
          <p:cNvSpPr/>
          <p:nvPr/>
        </p:nvSpPr>
        <p:spPr>
          <a:xfrm>
            <a:off x="6277068" y="2029774"/>
            <a:ext cx="209057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(num_simulacoes, num_jogadores, </a:t>
            </a:r>
            <a:endParaRPr lang="en-US" sz="942" dirty="0"/>
          </a:p>
        </p:txBody>
      </p:sp>
      <p:sp>
        <p:nvSpPr>
          <p:cNvPr id="33" name="Text 30"/>
          <p:cNvSpPr/>
          <p:nvPr/>
        </p:nvSpPr>
        <p:spPr>
          <a:xfrm>
            <a:off x="4786313" y="2222655"/>
            <a:ext cx="198989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tipo_baralho): contagem_zap = 0 </a:t>
            </a:r>
            <a:endParaRPr lang="en-US" sz="942" dirty="0"/>
          </a:p>
        </p:txBody>
      </p:sp>
      <p:sp>
        <p:nvSpPr>
          <p:cNvPr id="34" name="Text 31"/>
          <p:cNvSpPr/>
          <p:nvPr/>
        </p:nvSpPr>
        <p:spPr>
          <a:xfrm>
            <a:off x="6776210" y="2222655"/>
            <a:ext cx="17516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D633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for</a:t>
            </a:r>
            <a:endParaRPr lang="en-US" sz="942" dirty="0"/>
          </a:p>
        </p:txBody>
      </p:sp>
      <p:sp>
        <p:nvSpPr>
          <p:cNvPr id="35" name="Text 32"/>
          <p:cNvSpPr/>
          <p:nvPr/>
        </p:nvSpPr>
        <p:spPr>
          <a:xfrm>
            <a:off x="6951371" y="2222655"/>
            <a:ext cx="12398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_ </a:t>
            </a:r>
            <a:endParaRPr lang="en-US" sz="942" dirty="0"/>
          </a:p>
        </p:txBody>
      </p:sp>
      <p:sp>
        <p:nvSpPr>
          <p:cNvPr id="36" name="Text 33"/>
          <p:cNvSpPr/>
          <p:nvPr/>
        </p:nvSpPr>
        <p:spPr>
          <a:xfrm>
            <a:off x="7075354" y="2222655"/>
            <a:ext cx="11265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D633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</a:t>
            </a:r>
            <a:endParaRPr lang="en-US" sz="942" dirty="0"/>
          </a:p>
        </p:txBody>
      </p:sp>
      <p:sp>
        <p:nvSpPr>
          <p:cNvPr id="37" name="Text 34"/>
          <p:cNvSpPr/>
          <p:nvPr/>
        </p:nvSpPr>
        <p:spPr>
          <a:xfrm>
            <a:off x="7188008" y="2222655"/>
            <a:ext cx="150847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range(num_simulacoes): </a:t>
            </a:r>
            <a:endParaRPr lang="en-US" sz="942" dirty="0"/>
          </a:p>
        </p:txBody>
      </p:sp>
      <p:sp>
        <p:nvSpPr>
          <p:cNvPr id="38" name="Text 35"/>
          <p:cNvSpPr/>
          <p:nvPr/>
        </p:nvSpPr>
        <p:spPr>
          <a:xfrm>
            <a:off x="4786313" y="2415536"/>
            <a:ext cx="16511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D633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try</a:t>
            </a:r>
            <a:endParaRPr lang="en-US" sz="942" dirty="0"/>
          </a:p>
        </p:txBody>
      </p:sp>
      <p:sp>
        <p:nvSpPr>
          <p:cNvPr id="39" name="Text 36"/>
          <p:cNvSpPr/>
          <p:nvPr/>
        </p:nvSpPr>
        <p:spPr>
          <a:xfrm>
            <a:off x="4951428" y="2415536"/>
            <a:ext cx="6792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: </a:t>
            </a:r>
            <a:endParaRPr lang="en-US" sz="942" dirty="0"/>
          </a:p>
        </p:txBody>
      </p:sp>
      <p:sp>
        <p:nvSpPr>
          <p:cNvPr id="40" name="Text 37"/>
          <p:cNvSpPr/>
          <p:nvPr/>
        </p:nvSpPr>
        <p:spPr>
          <a:xfrm>
            <a:off x="5019349" y="2415536"/>
            <a:ext cx="7743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D633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if</a:t>
            </a:r>
            <a:endParaRPr lang="en-US" sz="942" dirty="0"/>
          </a:p>
        </p:txBody>
      </p:sp>
      <p:sp>
        <p:nvSpPr>
          <p:cNvPr id="41" name="Text 38"/>
          <p:cNvSpPr/>
          <p:nvPr/>
        </p:nvSpPr>
        <p:spPr>
          <a:xfrm>
            <a:off x="5096787" y="2415536"/>
            <a:ext cx="285158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simular_rodada(num_jogadores, tipo_baralho): </a:t>
            </a:r>
            <a:endParaRPr lang="en-US" sz="942" dirty="0"/>
          </a:p>
        </p:txBody>
      </p:sp>
      <p:sp>
        <p:nvSpPr>
          <p:cNvPr id="42" name="Text 39"/>
          <p:cNvSpPr/>
          <p:nvPr/>
        </p:nvSpPr>
        <p:spPr>
          <a:xfrm>
            <a:off x="4786313" y="2608418"/>
            <a:ext cx="119909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contagem_zap += 1 </a:t>
            </a:r>
            <a:endParaRPr lang="en-US" sz="942" dirty="0"/>
          </a:p>
        </p:txBody>
      </p:sp>
      <p:sp>
        <p:nvSpPr>
          <p:cNvPr id="43" name="Text 40"/>
          <p:cNvSpPr/>
          <p:nvPr/>
        </p:nvSpPr>
        <p:spPr>
          <a:xfrm>
            <a:off x="5985402" y="2608418"/>
            <a:ext cx="39516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D633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except</a:t>
            </a:r>
            <a:endParaRPr lang="en-US" sz="942" dirty="0"/>
          </a:p>
        </p:txBody>
      </p:sp>
      <p:sp>
        <p:nvSpPr>
          <p:cNvPr id="44" name="Text 41"/>
          <p:cNvSpPr/>
          <p:nvPr/>
        </p:nvSpPr>
        <p:spPr>
          <a:xfrm>
            <a:off x="6380569" y="2608418"/>
            <a:ext cx="73926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ValueError: </a:t>
            </a:r>
            <a:endParaRPr lang="en-US" sz="942" dirty="0"/>
          </a:p>
        </p:txBody>
      </p:sp>
      <p:sp>
        <p:nvSpPr>
          <p:cNvPr id="45" name="Text 42"/>
          <p:cNvSpPr/>
          <p:nvPr/>
        </p:nvSpPr>
        <p:spPr>
          <a:xfrm>
            <a:off x="7119835" y="2608418"/>
            <a:ext cx="129167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6C757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# Tratamento de erro</a:t>
            </a:r>
            <a:endParaRPr lang="en-US" sz="942" dirty="0"/>
          </a:p>
        </p:txBody>
      </p:sp>
      <p:sp>
        <p:nvSpPr>
          <p:cNvPr id="46" name="Text 43"/>
          <p:cNvSpPr/>
          <p:nvPr/>
        </p:nvSpPr>
        <p:spPr>
          <a:xfrm>
            <a:off x="4786313" y="2801299"/>
            <a:ext cx="53006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D633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continue</a:t>
            </a:r>
            <a:endParaRPr lang="en-US" sz="942" dirty="0"/>
          </a:p>
        </p:txBody>
      </p:sp>
      <p:sp>
        <p:nvSpPr>
          <p:cNvPr id="47" name="Text 44"/>
          <p:cNvSpPr/>
          <p:nvPr/>
        </p:nvSpPr>
        <p:spPr>
          <a:xfrm>
            <a:off x="5316373" y="2801299"/>
            <a:ext cx="304985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probabilidade = contagem_zap / num_simulacoes </a:t>
            </a:r>
            <a:endParaRPr lang="en-US" sz="942" dirty="0"/>
          </a:p>
        </p:txBody>
      </p:sp>
      <p:sp>
        <p:nvSpPr>
          <p:cNvPr id="48" name="Text 45"/>
          <p:cNvSpPr/>
          <p:nvPr/>
        </p:nvSpPr>
        <p:spPr>
          <a:xfrm>
            <a:off x="8366224" y="2801299"/>
            <a:ext cx="38152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D633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return</a:t>
            </a:r>
            <a:endParaRPr lang="en-US" sz="942" dirty="0"/>
          </a:p>
        </p:txBody>
      </p:sp>
      <p:sp>
        <p:nvSpPr>
          <p:cNvPr id="49" name="Text 46"/>
          <p:cNvSpPr/>
          <p:nvPr/>
        </p:nvSpPr>
        <p:spPr>
          <a:xfrm>
            <a:off x="4786313" y="2994180"/>
            <a:ext cx="87351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probabilidade </a:t>
            </a:r>
            <a:endParaRPr lang="en-US" sz="942" dirty="0"/>
          </a:p>
        </p:txBody>
      </p:sp>
      <p:sp>
        <p:nvSpPr>
          <p:cNvPr id="50" name="Text 47"/>
          <p:cNvSpPr/>
          <p:nvPr/>
        </p:nvSpPr>
        <p:spPr>
          <a:xfrm>
            <a:off x="5659831" y="2994180"/>
            <a:ext cx="11022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6C757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# Código principal</a:t>
            </a:r>
            <a:endParaRPr lang="en-US" sz="942" dirty="0"/>
          </a:p>
        </p:txBody>
      </p:sp>
      <p:sp>
        <p:nvSpPr>
          <p:cNvPr id="51" name="Text 48"/>
          <p:cNvSpPr/>
          <p:nvPr/>
        </p:nvSpPr>
        <p:spPr>
          <a:xfrm>
            <a:off x="6762090" y="2994180"/>
            <a:ext cx="118354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num_simulacoes = </a:t>
            </a:r>
            <a:endParaRPr lang="en-US" sz="942" dirty="0"/>
          </a:p>
        </p:txBody>
      </p:sp>
      <p:sp>
        <p:nvSpPr>
          <p:cNvPr id="52" name="Text 49"/>
          <p:cNvSpPr/>
          <p:nvPr/>
        </p:nvSpPr>
        <p:spPr>
          <a:xfrm>
            <a:off x="4786313" y="2994180"/>
            <a:ext cx="3600645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100000 cenarios = { "Individual": 2, "Dupla": 4, "Trio": 6 } </a:t>
            </a:r>
            <a:endParaRPr lang="en-US" sz="942" dirty="0"/>
          </a:p>
        </p:txBody>
      </p:sp>
      <p:sp>
        <p:nvSpPr>
          <p:cNvPr id="53" name="Text 50"/>
          <p:cNvSpPr/>
          <p:nvPr/>
        </p:nvSpPr>
        <p:spPr>
          <a:xfrm>
            <a:off x="4786313" y="3187061"/>
            <a:ext cx="3835915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tipos_baralho = ["sujo", "limpo"] </a:t>
            </a:r>
            <a:endParaRPr lang="en-US" sz="942" dirty="0"/>
          </a:p>
        </p:txBody>
      </p:sp>
      <p:sp>
        <p:nvSpPr>
          <p:cNvPr id="54" name="Text 51"/>
          <p:cNvSpPr/>
          <p:nvPr/>
        </p:nvSpPr>
        <p:spPr>
          <a:xfrm>
            <a:off x="5771173" y="3379943"/>
            <a:ext cx="17516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D633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for</a:t>
            </a:r>
            <a:endParaRPr lang="en-US" sz="942" dirty="0"/>
          </a:p>
        </p:txBody>
      </p:sp>
      <p:sp>
        <p:nvSpPr>
          <p:cNvPr id="55" name="Text 52"/>
          <p:cNvSpPr/>
          <p:nvPr/>
        </p:nvSpPr>
        <p:spPr>
          <a:xfrm>
            <a:off x="5946335" y="3379943"/>
            <a:ext cx="82476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tipo_baralho </a:t>
            </a:r>
            <a:endParaRPr lang="en-US" sz="942" dirty="0"/>
          </a:p>
        </p:txBody>
      </p:sp>
      <p:sp>
        <p:nvSpPr>
          <p:cNvPr id="56" name="Text 53"/>
          <p:cNvSpPr/>
          <p:nvPr/>
        </p:nvSpPr>
        <p:spPr>
          <a:xfrm>
            <a:off x="6771103" y="3379943"/>
            <a:ext cx="11265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D633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</a:t>
            </a:r>
            <a:endParaRPr lang="en-US" sz="942" dirty="0"/>
          </a:p>
        </p:txBody>
      </p:sp>
      <p:sp>
        <p:nvSpPr>
          <p:cNvPr id="57" name="Text 54"/>
          <p:cNvSpPr/>
          <p:nvPr/>
        </p:nvSpPr>
        <p:spPr>
          <a:xfrm>
            <a:off x="6883757" y="3379943"/>
            <a:ext cx="92081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tipos_baralho: </a:t>
            </a:r>
            <a:endParaRPr lang="en-US" sz="942" dirty="0"/>
          </a:p>
        </p:txBody>
      </p:sp>
      <p:sp>
        <p:nvSpPr>
          <p:cNvPr id="58" name="Text 55"/>
          <p:cNvSpPr/>
          <p:nvPr/>
        </p:nvSpPr>
        <p:spPr>
          <a:xfrm>
            <a:off x="7804575" y="3379943"/>
            <a:ext cx="17516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D633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for</a:t>
            </a:r>
            <a:endParaRPr lang="en-US" sz="942" dirty="0"/>
          </a:p>
        </p:txBody>
      </p:sp>
      <p:sp>
        <p:nvSpPr>
          <p:cNvPr id="59" name="Text 56"/>
          <p:cNvSpPr/>
          <p:nvPr/>
        </p:nvSpPr>
        <p:spPr>
          <a:xfrm>
            <a:off x="4786313" y="3379943"/>
            <a:ext cx="3711262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cenario, num_jogadores </a:t>
            </a:r>
            <a:endParaRPr lang="en-US" sz="942" dirty="0"/>
          </a:p>
        </p:txBody>
      </p:sp>
      <p:sp>
        <p:nvSpPr>
          <p:cNvPr id="60" name="Text 57"/>
          <p:cNvSpPr/>
          <p:nvPr/>
        </p:nvSpPr>
        <p:spPr>
          <a:xfrm>
            <a:off x="5759732" y="3572824"/>
            <a:ext cx="11265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D633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</a:t>
            </a:r>
            <a:endParaRPr lang="en-US" sz="942" dirty="0"/>
          </a:p>
        </p:txBody>
      </p:sp>
      <p:sp>
        <p:nvSpPr>
          <p:cNvPr id="61" name="Text 58"/>
          <p:cNvSpPr/>
          <p:nvPr/>
        </p:nvSpPr>
        <p:spPr>
          <a:xfrm>
            <a:off x="5872386" y="3572824"/>
            <a:ext cx="105841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cenarios.items(): </a:t>
            </a:r>
            <a:endParaRPr lang="en-US" sz="942" dirty="0"/>
          </a:p>
        </p:txBody>
      </p:sp>
      <p:sp>
        <p:nvSpPr>
          <p:cNvPr id="62" name="Text 59"/>
          <p:cNvSpPr/>
          <p:nvPr/>
        </p:nvSpPr>
        <p:spPr>
          <a:xfrm>
            <a:off x="4786313" y="3572824"/>
            <a:ext cx="3871438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prob = simular_monte_carlo( num_simulacoes, num_jogadores, </a:t>
            </a:r>
            <a:endParaRPr lang="en-US" sz="942" dirty="0"/>
          </a:p>
        </p:txBody>
      </p:sp>
      <p:sp>
        <p:nvSpPr>
          <p:cNvPr id="63" name="Text 60"/>
          <p:cNvSpPr/>
          <p:nvPr/>
        </p:nvSpPr>
        <p:spPr>
          <a:xfrm>
            <a:off x="4786313" y="3765705"/>
            <a:ext cx="3729847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tipo_baralho ) resultados[f"{cenario} - {tipo_baralho}"] = prob </a:t>
            </a:r>
            <a:endParaRPr lang="en-US" sz="94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 RESULTADOS E DISCUSSÃO</a:t>
            </a:r>
            <a:endParaRPr lang="en-US" sz="2025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778669"/>
            <a:ext cx="4143375" cy="21431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85750" y="2993231"/>
            <a:ext cx="41433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i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Figura 4 - Probabilidade (%) de um jogador sair com o ZAP</a:t>
            </a:r>
            <a:endParaRPr lang="en-US" sz="837" dirty="0"/>
          </a:p>
        </p:txBody>
      </p:sp>
      <p:sp>
        <p:nvSpPr>
          <p:cNvPr id="6" name="Text 2"/>
          <p:cNvSpPr/>
          <p:nvPr/>
        </p:nvSpPr>
        <p:spPr>
          <a:xfrm>
            <a:off x="285750" y="3200400"/>
            <a:ext cx="41433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i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Fonte: Elaborado pelo autor (2025).</a:t>
            </a:r>
            <a:endParaRPr lang="en-US" sz="837" dirty="0"/>
          </a:p>
        </p:txBody>
      </p:sp>
      <p:sp>
        <p:nvSpPr>
          <p:cNvPr id="7" name="Text 3"/>
          <p:cNvSpPr/>
          <p:nvPr/>
        </p:nvSpPr>
        <p:spPr>
          <a:xfrm>
            <a:off x="4714875" y="885825"/>
            <a:ext cx="41433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Impacto do Número de Jogadores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714875" y="1209080"/>
            <a:ext cx="109902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 probabilidade </a:t>
            </a:r>
            <a:endParaRPr lang="en-US" sz="1046" dirty="0"/>
          </a:p>
        </p:txBody>
      </p:sp>
      <p:sp>
        <p:nvSpPr>
          <p:cNvPr id="9" name="Text 5"/>
          <p:cNvSpPr/>
          <p:nvPr/>
        </p:nvSpPr>
        <p:spPr>
          <a:xfrm>
            <a:off x="5813896" y="1209080"/>
            <a:ext cx="210698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aumenta com mais jogadores</a:t>
            </a:r>
            <a:endParaRPr lang="en-US" sz="1046" dirty="0"/>
          </a:p>
        </p:txBody>
      </p:sp>
      <p:sp>
        <p:nvSpPr>
          <p:cNvPr id="10" name="Text 6"/>
          <p:cNvSpPr/>
          <p:nvPr/>
        </p:nvSpPr>
        <p:spPr>
          <a:xfrm>
            <a:off x="7920884" y="1209080"/>
            <a:ext cx="67296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pois mais </a:t>
            </a:r>
            <a:endParaRPr lang="en-US" sz="1046" dirty="0"/>
          </a:p>
        </p:txBody>
      </p:sp>
      <p:sp>
        <p:nvSpPr>
          <p:cNvPr id="11" name="Text 7"/>
          <p:cNvSpPr/>
          <p:nvPr/>
        </p:nvSpPr>
        <p:spPr>
          <a:xfrm>
            <a:off x="4714875" y="1394817"/>
            <a:ext cx="357544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cartas são distribuídas, elevando a chance do ZAP ser </a:t>
            </a:r>
            <a:endParaRPr lang="en-US" sz="1046" dirty="0"/>
          </a:p>
        </p:txBody>
      </p:sp>
      <p:sp>
        <p:nvSpPr>
          <p:cNvPr id="12" name="Text 8"/>
          <p:cNvSpPr/>
          <p:nvPr/>
        </p:nvSpPr>
        <p:spPr>
          <a:xfrm>
            <a:off x="4714875" y="1580555"/>
            <a:ext cx="126316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retirado do monte. </a:t>
            </a:r>
            <a:endParaRPr lang="en-US" sz="1046" dirty="0"/>
          </a:p>
        </p:txBody>
      </p:sp>
      <p:sp>
        <p:nvSpPr>
          <p:cNvPr id="13" name="Text 9"/>
          <p:cNvSpPr/>
          <p:nvPr/>
        </p:nvSpPr>
        <p:spPr>
          <a:xfrm>
            <a:off x="4714875" y="1878806"/>
            <a:ext cx="41433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Impacto do Tipo de Baralho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714875" y="2202061"/>
            <a:ext cx="70181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O baralho </a:t>
            </a:r>
            <a:endParaRPr lang="en-US" sz="1046" dirty="0"/>
          </a:p>
        </p:txBody>
      </p:sp>
      <p:sp>
        <p:nvSpPr>
          <p:cNvPr id="15" name="Text 11"/>
          <p:cNvSpPr/>
          <p:nvPr/>
        </p:nvSpPr>
        <p:spPr>
          <a:xfrm>
            <a:off x="5416693" y="2202061"/>
            <a:ext cx="287608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limpo apresenta probabilidades maiores</a:t>
            </a:r>
            <a:endParaRPr lang="en-US" sz="1046" dirty="0"/>
          </a:p>
        </p:txBody>
      </p:sp>
      <p:sp>
        <p:nvSpPr>
          <p:cNvPr id="16" name="Text 12"/>
          <p:cNvSpPr/>
          <p:nvPr/>
        </p:nvSpPr>
        <p:spPr>
          <a:xfrm>
            <a:off x="8292778" y="2202061"/>
            <a:ext cx="48650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devido </a:t>
            </a:r>
            <a:endParaRPr lang="en-US" sz="1046" dirty="0"/>
          </a:p>
        </p:txBody>
      </p:sp>
      <p:sp>
        <p:nvSpPr>
          <p:cNvPr id="17" name="Text 13"/>
          <p:cNvSpPr/>
          <p:nvPr/>
        </p:nvSpPr>
        <p:spPr>
          <a:xfrm>
            <a:off x="4714875" y="2387798"/>
            <a:ext cx="278508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à maior densidade de cartas de alto valor. </a:t>
            </a:r>
            <a:endParaRPr lang="en-US" sz="1046" dirty="0"/>
          </a:p>
        </p:txBody>
      </p:sp>
      <p:sp>
        <p:nvSpPr>
          <p:cNvPr id="18" name="Text 14"/>
          <p:cNvSpPr/>
          <p:nvPr/>
        </p:nvSpPr>
        <p:spPr>
          <a:xfrm>
            <a:off x="4714875" y="2686050"/>
            <a:ext cx="41433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Cenário Mais Favorável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4714875" y="3009305"/>
            <a:ext cx="227372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Trio com baralho limpo (65,56%)</a:t>
            </a:r>
            <a:endParaRPr lang="en-US" sz="1046" dirty="0"/>
          </a:p>
        </p:txBody>
      </p:sp>
      <p:sp>
        <p:nvSpPr>
          <p:cNvPr id="20" name="Text 16"/>
          <p:cNvSpPr/>
          <p:nvPr/>
        </p:nvSpPr>
        <p:spPr>
          <a:xfrm>
            <a:off x="6988597" y="3009305"/>
            <a:ext cx="126145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apresenta a maior </a:t>
            </a:r>
            <a:endParaRPr lang="en-US" sz="1046" dirty="0"/>
          </a:p>
        </p:txBody>
      </p:sp>
      <p:sp>
        <p:nvSpPr>
          <p:cNvPr id="21" name="Text 17"/>
          <p:cNvSpPr/>
          <p:nvPr/>
        </p:nvSpPr>
        <p:spPr>
          <a:xfrm>
            <a:off x="4714875" y="3195042"/>
            <a:ext cx="295022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probabilidade de um jogador receber o ZAP. </a:t>
            </a:r>
            <a:endParaRPr lang="en-US" sz="1046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 CONCLUSÃO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814388"/>
            <a:ext cx="4179094" cy="660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 simulação de Monte Carlo demonstrou ser uma ferramenta eficaz para a análise de probabilidades no Truco Paulista. </a:t>
            </a:r>
            <a:endParaRPr lang="en-US" sz="1238" dirty="0"/>
          </a:p>
        </p:txBody>
      </p:sp>
      <p:sp>
        <p:nvSpPr>
          <p:cNvPr id="5" name="Text 2"/>
          <p:cNvSpPr/>
          <p:nvPr/>
        </p:nvSpPr>
        <p:spPr>
          <a:xfrm>
            <a:off x="285750" y="1581559"/>
            <a:ext cx="4179094" cy="660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Os resultados indicam que as chances de receber o ZAP são maiores em jogos com mais participantes e com o uso do baralho limpo. </a:t>
            </a:r>
            <a:endParaRPr lang="en-US" sz="1238" dirty="0"/>
          </a:p>
        </p:txBody>
      </p:sp>
      <p:sp>
        <p:nvSpPr>
          <p:cNvPr id="6" name="Text 3"/>
          <p:cNvSpPr/>
          <p:nvPr/>
        </p:nvSpPr>
        <p:spPr>
          <a:xfrm>
            <a:off x="285750" y="2350517"/>
            <a:ext cx="235478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O cenário mais favorável é o de </a:t>
            </a:r>
            <a:endParaRPr lang="en-US" sz="1238" dirty="0"/>
          </a:p>
        </p:txBody>
      </p:sp>
      <p:sp>
        <p:nvSpPr>
          <p:cNvPr id="7" name="Text 4"/>
          <p:cNvSpPr/>
          <p:nvPr/>
        </p:nvSpPr>
        <p:spPr>
          <a:xfrm>
            <a:off x="2640536" y="2350517"/>
            <a:ext cx="179277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trio com baralho limpo </a:t>
            </a:r>
            <a:endParaRPr lang="en-US" sz="1238" dirty="0"/>
          </a:p>
        </p:txBody>
      </p:sp>
      <p:sp>
        <p:nvSpPr>
          <p:cNvPr id="8" name="Text 5"/>
          <p:cNvSpPr/>
          <p:nvPr/>
        </p:nvSpPr>
        <p:spPr>
          <a:xfrm>
            <a:off x="285750" y="2570522"/>
            <a:ext cx="65256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(65,56%)</a:t>
            </a:r>
            <a:endParaRPr lang="en-US" sz="1238" dirty="0"/>
          </a:p>
        </p:txBody>
      </p:sp>
      <p:sp>
        <p:nvSpPr>
          <p:cNvPr id="9" name="Text 6"/>
          <p:cNvSpPr/>
          <p:nvPr/>
        </p:nvSpPr>
        <p:spPr>
          <a:xfrm>
            <a:off x="938315" y="2570522"/>
            <a:ext cx="339174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onde a probabilidade de um jogador receber </a:t>
            </a:r>
            <a:endParaRPr lang="en-US" sz="1238" dirty="0"/>
          </a:p>
        </p:txBody>
      </p:sp>
      <p:sp>
        <p:nvSpPr>
          <p:cNvPr id="10" name="Text 7"/>
          <p:cNvSpPr/>
          <p:nvPr/>
        </p:nvSpPr>
        <p:spPr>
          <a:xfrm>
            <a:off x="285750" y="2790527"/>
            <a:ext cx="243696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 ZAP é significativamente maior. </a:t>
            </a:r>
            <a:endParaRPr lang="en-US" sz="1238" dirty="0"/>
          </a:p>
        </p:txBody>
      </p:sp>
      <p:sp>
        <p:nvSpPr>
          <p:cNvPr id="11" name="Text 8"/>
          <p:cNvSpPr/>
          <p:nvPr/>
        </p:nvSpPr>
        <p:spPr>
          <a:xfrm>
            <a:off x="285750" y="3115903"/>
            <a:ext cx="4179094" cy="660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 metodologia aplicada pode ser estendida para analisar outros aspectos do jogo, contribuindo para o desenvolvimento de estratégias mais eficazes. </a:t>
            </a:r>
            <a:endParaRPr lang="en-US" sz="1238" dirty="0"/>
          </a:p>
        </p:txBody>
      </p:sp>
      <p:sp>
        <p:nvSpPr>
          <p:cNvPr id="12" name="Text 9"/>
          <p:cNvSpPr/>
          <p:nvPr/>
        </p:nvSpPr>
        <p:spPr>
          <a:xfrm>
            <a:off x="4679156" y="1195015"/>
            <a:ext cx="4179094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75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Sugestões para Trabalhos Futuros</a:t>
            </a:r>
            <a:endParaRPr lang="en-US" sz="1575" dirty="0"/>
          </a:p>
        </p:txBody>
      </p:sp>
      <p:sp>
        <p:nvSpPr>
          <p:cNvPr id="13" name="Shape 10"/>
          <p:cNvSpPr/>
          <p:nvPr/>
        </p:nvSpPr>
        <p:spPr>
          <a:xfrm>
            <a:off x="4679156" y="1837953"/>
            <a:ext cx="285750" cy="285750"/>
          </a:xfrm>
          <a:prstGeom prst="ellipse">
            <a:avLst/>
          </a:prstGeom>
          <a:solidFill>
            <a:srgbClr val="0066CC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0594" y="1909390"/>
            <a:ext cx="142875" cy="14287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072063" y="1745084"/>
            <a:ext cx="3786188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Análise de outras manilhas (Copas, Espadas, Ouros) </a:t>
            </a:r>
            <a:endParaRPr lang="en-US" sz="1238" dirty="0"/>
          </a:p>
        </p:txBody>
      </p:sp>
      <p:sp>
        <p:nvSpPr>
          <p:cNvPr id="16" name="Shape 12"/>
          <p:cNvSpPr/>
          <p:nvPr/>
        </p:nvSpPr>
        <p:spPr>
          <a:xfrm>
            <a:off x="4679156" y="2323728"/>
            <a:ext cx="285750" cy="285750"/>
          </a:xfrm>
          <a:prstGeom prst="ellipse">
            <a:avLst/>
          </a:prstGeom>
          <a:solidFill>
            <a:srgbClr val="0066C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2734" y="2395165"/>
            <a:ext cx="178594" cy="14287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072063" y="2348731"/>
            <a:ext cx="285267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Probabilidade de ter qualquer manilha </a:t>
            </a:r>
            <a:endParaRPr lang="en-US" sz="1238" dirty="0"/>
          </a:p>
        </p:txBody>
      </p:sp>
      <p:sp>
        <p:nvSpPr>
          <p:cNvPr id="19" name="Shape 14"/>
          <p:cNvSpPr/>
          <p:nvPr/>
        </p:nvSpPr>
        <p:spPr>
          <a:xfrm>
            <a:off x="4679156" y="2716634"/>
            <a:ext cx="285750" cy="285750"/>
          </a:xfrm>
          <a:prstGeom prst="ellipse">
            <a:avLst/>
          </a:prstGeom>
          <a:solidFill>
            <a:srgbClr val="0066CC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8453" y="2788072"/>
            <a:ext cx="107156" cy="14287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072063" y="2741637"/>
            <a:ext cx="2436354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Simulação de estratégias de jogo </a:t>
            </a:r>
            <a:endParaRPr lang="en-US" sz="1238" dirty="0"/>
          </a:p>
        </p:txBody>
      </p:sp>
      <p:sp>
        <p:nvSpPr>
          <p:cNvPr id="22" name="Shape 16"/>
          <p:cNvSpPr/>
          <p:nvPr/>
        </p:nvSpPr>
        <p:spPr>
          <a:xfrm>
            <a:off x="4679156" y="3109540"/>
            <a:ext cx="285750" cy="285750"/>
          </a:xfrm>
          <a:prstGeom prst="ellipse">
            <a:avLst/>
          </a:prstGeom>
          <a:solidFill>
            <a:srgbClr val="0066CC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1664" y="3180978"/>
            <a:ext cx="160734" cy="14287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072063" y="3134544"/>
            <a:ext cx="2751767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Desenvolvimento de interface gráfica </a:t>
            </a:r>
            <a:endParaRPr lang="en-US" sz="1238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REFERÊNCIAS</a:t>
            </a:r>
            <a:endParaRPr lang="en-US" sz="2025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4477" y="957263"/>
            <a:ext cx="375047" cy="4286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357313" y="1773548"/>
            <a:ext cx="367668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238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ASSOCIAÇÃO BRASILEIRA DE NORMAS TÉCNICAS. </a:t>
            </a:r>
            <a:endParaRPr lang="en-US" sz="1238" dirty="0"/>
          </a:p>
        </p:txBody>
      </p:sp>
      <p:sp>
        <p:nvSpPr>
          <p:cNvPr id="6" name="Text 2"/>
          <p:cNvSpPr/>
          <p:nvPr/>
        </p:nvSpPr>
        <p:spPr>
          <a:xfrm>
            <a:off x="5034000" y="1773548"/>
            <a:ext cx="73756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238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NBR 6023</a:t>
            </a:r>
            <a:endParaRPr lang="en-US" sz="1238" dirty="0"/>
          </a:p>
        </p:txBody>
      </p:sp>
      <p:sp>
        <p:nvSpPr>
          <p:cNvPr id="7" name="Text 3"/>
          <p:cNvSpPr/>
          <p:nvPr/>
        </p:nvSpPr>
        <p:spPr>
          <a:xfrm>
            <a:off x="5771564" y="1773548"/>
            <a:ext cx="107075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238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: Informação e </a:t>
            </a:r>
            <a:endParaRPr lang="en-US" sz="1238" dirty="0"/>
          </a:p>
        </p:txBody>
      </p:sp>
      <p:sp>
        <p:nvSpPr>
          <p:cNvPr id="8" name="Text 4"/>
          <p:cNvSpPr/>
          <p:nvPr/>
        </p:nvSpPr>
        <p:spPr>
          <a:xfrm>
            <a:off x="1643063" y="1993553"/>
            <a:ext cx="510309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238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documentação - Referências - Elaboração. Rio de Janeiro: ABNT, 2018. </a:t>
            </a:r>
            <a:endParaRPr lang="en-US" sz="1238" dirty="0"/>
          </a:p>
        </p:txBody>
      </p:sp>
      <p:sp>
        <p:nvSpPr>
          <p:cNvPr id="9" name="Text 5"/>
          <p:cNvSpPr/>
          <p:nvPr/>
        </p:nvSpPr>
        <p:spPr>
          <a:xfrm>
            <a:off x="1357313" y="2392152"/>
            <a:ext cx="60085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238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COPAG. </a:t>
            </a:r>
            <a:endParaRPr lang="en-US" sz="1238" dirty="0"/>
          </a:p>
        </p:txBody>
      </p:sp>
      <p:sp>
        <p:nvSpPr>
          <p:cNvPr id="10" name="Text 6"/>
          <p:cNvSpPr/>
          <p:nvPr/>
        </p:nvSpPr>
        <p:spPr>
          <a:xfrm>
            <a:off x="1958169" y="2392152"/>
            <a:ext cx="292151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238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Afinal, como se joga o truco paulista?</a:t>
            </a:r>
            <a:endParaRPr lang="en-US" sz="1238" dirty="0"/>
          </a:p>
        </p:txBody>
      </p:sp>
      <p:sp>
        <p:nvSpPr>
          <p:cNvPr id="11" name="Text 7"/>
          <p:cNvSpPr/>
          <p:nvPr/>
        </p:nvSpPr>
        <p:spPr>
          <a:xfrm>
            <a:off x="4879684" y="2392152"/>
            <a:ext cx="117057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238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 Disponível em: </a:t>
            </a:r>
            <a:endParaRPr lang="en-US" sz="1238" dirty="0"/>
          </a:p>
        </p:txBody>
      </p:sp>
      <p:sp>
        <p:nvSpPr>
          <p:cNvPr id="12" name="Text 8"/>
          <p:cNvSpPr/>
          <p:nvPr/>
        </p:nvSpPr>
        <p:spPr>
          <a:xfrm>
            <a:off x="1643063" y="2612157"/>
            <a:ext cx="531241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238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https://blog.copag.com.br/a-copag/afinal-como-se-joga-o-truco-paulista</a:t>
            </a:r>
            <a:endParaRPr lang="en-US" sz="1238" dirty="0"/>
          </a:p>
        </p:txBody>
      </p:sp>
      <p:sp>
        <p:nvSpPr>
          <p:cNvPr id="13" name="Text 9"/>
          <p:cNvSpPr/>
          <p:nvPr/>
        </p:nvSpPr>
        <p:spPr>
          <a:xfrm>
            <a:off x="6955473" y="2612157"/>
            <a:ext cx="59315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238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 Acesso </a:t>
            </a:r>
            <a:endParaRPr lang="en-US" sz="1238" dirty="0"/>
          </a:p>
        </p:txBody>
      </p:sp>
      <p:sp>
        <p:nvSpPr>
          <p:cNvPr id="14" name="Text 10"/>
          <p:cNvSpPr/>
          <p:nvPr/>
        </p:nvSpPr>
        <p:spPr>
          <a:xfrm>
            <a:off x="1643063" y="2832162"/>
            <a:ext cx="12445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238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em: 17 set. 2025. </a:t>
            </a:r>
            <a:endParaRPr lang="en-US" sz="1238" dirty="0"/>
          </a:p>
        </p:txBody>
      </p:sp>
      <p:sp>
        <p:nvSpPr>
          <p:cNvPr id="15" name="Text 11"/>
          <p:cNvSpPr/>
          <p:nvPr/>
        </p:nvSpPr>
        <p:spPr>
          <a:xfrm>
            <a:off x="1357313" y="3230761"/>
            <a:ext cx="140882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238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KROESE, D. P. et al. </a:t>
            </a:r>
            <a:endParaRPr lang="en-US" sz="1238" dirty="0"/>
          </a:p>
        </p:txBody>
      </p:sp>
      <p:sp>
        <p:nvSpPr>
          <p:cNvPr id="16" name="Text 12"/>
          <p:cNvSpPr/>
          <p:nvPr/>
        </p:nvSpPr>
        <p:spPr>
          <a:xfrm>
            <a:off x="2766138" y="3230761"/>
            <a:ext cx="402857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238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Why the Monte Carlo method is so important today</a:t>
            </a:r>
            <a:endParaRPr lang="en-US" sz="1238" dirty="0"/>
          </a:p>
        </p:txBody>
      </p:sp>
      <p:sp>
        <p:nvSpPr>
          <p:cNvPr id="17" name="Text 13"/>
          <p:cNvSpPr/>
          <p:nvPr/>
        </p:nvSpPr>
        <p:spPr>
          <a:xfrm>
            <a:off x="6794711" y="3230761"/>
            <a:ext cx="47589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238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 Wiley </a:t>
            </a:r>
            <a:endParaRPr lang="en-US" sz="1238" dirty="0"/>
          </a:p>
        </p:txBody>
      </p:sp>
      <p:sp>
        <p:nvSpPr>
          <p:cNvPr id="18" name="Text 14"/>
          <p:cNvSpPr/>
          <p:nvPr/>
        </p:nvSpPr>
        <p:spPr>
          <a:xfrm>
            <a:off x="1643063" y="3450766"/>
            <a:ext cx="571647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238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Interdisciplinary Reviews: Computational Statistics, v. 6, n. 6, p. 386-392, 2014. </a:t>
            </a:r>
            <a:endParaRPr lang="en-US" sz="1238" dirty="0"/>
          </a:p>
        </p:txBody>
      </p:sp>
      <p:sp>
        <p:nvSpPr>
          <p:cNvPr id="19" name="Text 15"/>
          <p:cNvSpPr/>
          <p:nvPr/>
        </p:nvSpPr>
        <p:spPr>
          <a:xfrm>
            <a:off x="1357313" y="3849365"/>
            <a:ext cx="262069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238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PYTHON SOFTWARE FOUNDATION. </a:t>
            </a:r>
            <a:endParaRPr lang="en-US" sz="1238" dirty="0"/>
          </a:p>
        </p:txBody>
      </p:sp>
      <p:sp>
        <p:nvSpPr>
          <p:cNvPr id="20" name="Text 16"/>
          <p:cNvSpPr/>
          <p:nvPr/>
        </p:nvSpPr>
        <p:spPr>
          <a:xfrm>
            <a:off x="3978008" y="3849365"/>
            <a:ext cx="360642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238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random — Generate pseudo-random numbers</a:t>
            </a:r>
            <a:endParaRPr lang="en-US" sz="1238" dirty="0"/>
          </a:p>
        </p:txBody>
      </p:sp>
      <p:sp>
        <p:nvSpPr>
          <p:cNvPr id="21" name="Text 17"/>
          <p:cNvSpPr/>
          <p:nvPr/>
        </p:nvSpPr>
        <p:spPr>
          <a:xfrm>
            <a:off x="7584430" y="3849365"/>
            <a:ext cx="4213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238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 </a:t>
            </a:r>
            <a:endParaRPr lang="en-US" sz="1238" dirty="0"/>
          </a:p>
        </p:txBody>
      </p:sp>
      <p:sp>
        <p:nvSpPr>
          <p:cNvPr id="22" name="Text 18"/>
          <p:cNvSpPr/>
          <p:nvPr/>
        </p:nvSpPr>
        <p:spPr>
          <a:xfrm>
            <a:off x="1643063" y="4069370"/>
            <a:ext cx="112843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238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Disponível em: </a:t>
            </a:r>
            <a:endParaRPr lang="en-US" sz="1238" dirty="0"/>
          </a:p>
        </p:txBody>
      </p:sp>
      <p:sp>
        <p:nvSpPr>
          <p:cNvPr id="23" name="Text 19"/>
          <p:cNvSpPr/>
          <p:nvPr/>
        </p:nvSpPr>
        <p:spPr>
          <a:xfrm>
            <a:off x="2771496" y="4069370"/>
            <a:ext cx="34503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238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https://docs.python.org/3/library/random.html</a:t>
            </a:r>
            <a:endParaRPr lang="en-US" sz="1238" dirty="0"/>
          </a:p>
        </p:txBody>
      </p:sp>
      <p:sp>
        <p:nvSpPr>
          <p:cNvPr id="24" name="Text 20"/>
          <p:cNvSpPr/>
          <p:nvPr/>
        </p:nvSpPr>
        <p:spPr>
          <a:xfrm>
            <a:off x="6221871" y="4069370"/>
            <a:ext cx="143600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238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 Acesso em: 17 set. </a:t>
            </a:r>
            <a:endParaRPr lang="en-US" sz="1238" dirty="0"/>
          </a:p>
        </p:txBody>
      </p:sp>
      <p:sp>
        <p:nvSpPr>
          <p:cNvPr id="25" name="Text 21"/>
          <p:cNvSpPr/>
          <p:nvPr/>
        </p:nvSpPr>
        <p:spPr>
          <a:xfrm>
            <a:off x="1643063" y="4289375"/>
            <a:ext cx="40172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238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2025. </a:t>
            </a:r>
            <a:endParaRPr lang="en-US" sz="123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2025-09-17T23:15:52Z</dcterms:created>
  <dcterms:modified xsi:type="dcterms:W3CDTF">2025-09-17T23:15:52Z</dcterms:modified>
</cp:coreProperties>
</file>